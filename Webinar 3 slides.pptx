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77" r:id="rId5"/>
    <p:sldId id="2973" r:id="rId6"/>
    <p:sldId id="2976" r:id="rId7"/>
    <p:sldId id="2974" r:id="rId8"/>
    <p:sldId id="2966" r:id="rId9"/>
    <p:sldId id="2978" r:id="rId10"/>
    <p:sldId id="2979" r:id="rId11"/>
    <p:sldId id="2981" r:id="rId12"/>
    <p:sldId id="289" r:id="rId13"/>
    <p:sldId id="2977"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2F7D"/>
    <a:srgbClr val="129299"/>
    <a:srgbClr val="56BCB2"/>
    <a:srgbClr val="14939A"/>
    <a:srgbClr val="C0D67C"/>
    <a:srgbClr val="1EABDA"/>
    <a:srgbClr val="ED7F3B"/>
    <a:srgbClr val="167ACC"/>
    <a:srgbClr val="70CC90"/>
    <a:srgbClr val="4DC5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4625" autoAdjust="0"/>
  </p:normalViewPr>
  <p:slideViewPr>
    <p:cSldViewPr snapToGrid="0">
      <p:cViewPr varScale="1">
        <p:scale>
          <a:sx n="48" d="100"/>
          <a:sy n="48" d="100"/>
        </p:scale>
        <p:origin x="51" y="333"/>
      </p:cViewPr>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BCF4E-E3E6-4EEA-8C88-A1E5CA4F7D1F}" type="datetimeFigureOut">
              <a:rPr lang="en-GB" smtClean="0"/>
              <a:t>02/04/2026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ADB5E-DD09-4D79-AFE1-3773FDFDAED6}" type="slidenum">
              <a:rPr lang="en-GB" smtClean="0"/>
              <a:t>‹#›</a:t>
            </a:fld>
            <a:endParaRPr lang="en-GB"/>
          </a:p>
        </p:txBody>
      </p:sp>
    </p:spTree>
    <p:extLst>
      <p:ext uri="{BB962C8B-B14F-4D97-AF65-F5344CB8AC3E}">
        <p14:creationId xmlns:p14="http://schemas.microsoft.com/office/powerpoint/2010/main" val="2353728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1AADB5E-DD09-4D79-AFE1-3773FDFDAED6}" type="slidenum">
              <a:rPr lang="en-GB" smtClean="0"/>
              <a:t>1</a:t>
            </a:fld>
            <a:endParaRPr lang="en-GB"/>
          </a:p>
        </p:txBody>
      </p:sp>
    </p:spTree>
    <p:extLst>
      <p:ext uri="{BB962C8B-B14F-4D97-AF65-F5344CB8AC3E}">
        <p14:creationId xmlns:p14="http://schemas.microsoft.com/office/powerpoint/2010/main" val="2425135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70F4C-0B0F-66D3-BE5B-41F205680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DE3DF-4560-AA0A-6E1D-B6ECB75BD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70C63-1735-28BF-D85A-B5F7537FB20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3573A56-F4D7-B3B3-31FF-D0D5E6198E53}"/>
              </a:ext>
            </a:extLst>
          </p:cNvPr>
          <p:cNvSpPr>
            <a:spLocks noGrp="1"/>
          </p:cNvSpPr>
          <p:nvPr>
            <p:ph type="sldNum" sz="quarter" idx="5"/>
          </p:nvPr>
        </p:nvSpPr>
        <p:spPr/>
        <p:txBody>
          <a:bodyPr/>
          <a:lstStyle/>
          <a:p>
            <a:fld id="{91AADB5E-DD09-4D79-AFE1-3773FDFDAED6}" type="slidenum">
              <a:rPr lang="en-GB" smtClean="0"/>
              <a:t>2</a:t>
            </a:fld>
            <a:endParaRPr lang="en-GB"/>
          </a:p>
        </p:txBody>
      </p:sp>
    </p:spTree>
    <p:extLst>
      <p:ext uri="{BB962C8B-B14F-4D97-AF65-F5344CB8AC3E}">
        <p14:creationId xmlns:p14="http://schemas.microsoft.com/office/powerpoint/2010/main" val="3343858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812CB-77CA-DD8B-E12D-58D073E8D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DDF79-828D-4E70-75A2-FC62F4686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FA3D1-5F0B-E587-AEEB-3CF010C10D2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5257BB5-0A57-43EB-8790-CCA43882AB2C}"/>
              </a:ext>
            </a:extLst>
          </p:cNvPr>
          <p:cNvSpPr>
            <a:spLocks noGrp="1"/>
          </p:cNvSpPr>
          <p:nvPr>
            <p:ph type="sldNum" sz="quarter" idx="5"/>
          </p:nvPr>
        </p:nvSpPr>
        <p:spPr/>
        <p:txBody>
          <a:bodyPr/>
          <a:lstStyle/>
          <a:p>
            <a:fld id="{91AADB5E-DD09-4D79-AFE1-3773FDFDAED6}" type="slidenum">
              <a:rPr lang="en-GB" smtClean="0"/>
              <a:t>3</a:t>
            </a:fld>
            <a:endParaRPr lang="en-GB"/>
          </a:p>
        </p:txBody>
      </p:sp>
    </p:spTree>
    <p:extLst>
      <p:ext uri="{BB962C8B-B14F-4D97-AF65-F5344CB8AC3E}">
        <p14:creationId xmlns:p14="http://schemas.microsoft.com/office/powerpoint/2010/main" val="42981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362E4-24B0-ECAD-D2C5-556A862B9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34188-ED65-5E42-B976-0D066EB94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6ECD0-AFB7-4ECF-00AA-50015677066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6331FC-F043-5B9C-EEA9-B5200578CA78}"/>
              </a:ext>
            </a:extLst>
          </p:cNvPr>
          <p:cNvSpPr>
            <a:spLocks noGrp="1"/>
          </p:cNvSpPr>
          <p:nvPr>
            <p:ph type="sldNum" sz="quarter" idx="5"/>
          </p:nvPr>
        </p:nvSpPr>
        <p:spPr/>
        <p:txBody>
          <a:bodyPr/>
          <a:lstStyle/>
          <a:p>
            <a:fld id="{74A85DC7-7D2C-4ED2-8464-8A663E44FCCC}" type="slidenum">
              <a:rPr lang="en-GB" smtClean="0"/>
              <a:t>4</a:t>
            </a:fld>
            <a:endParaRPr lang="en-GB"/>
          </a:p>
        </p:txBody>
      </p:sp>
    </p:spTree>
    <p:extLst>
      <p:ext uri="{BB962C8B-B14F-4D97-AF65-F5344CB8AC3E}">
        <p14:creationId xmlns:p14="http://schemas.microsoft.com/office/powerpoint/2010/main" val="3553179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FB94-567B-619D-4735-82D1BE82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7611A-C793-B82A-D78D-71931A55E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EC3A5-7D17-07D2-4D4D-F42EF76E1F8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5894945-0EB0-14A4-2D4E-7B4A28CBB247}"/>
              </a:ext>
            </a:extLst>
          </p:cNvPr>
          <p:cNvSpPr>
            <a:spLocks noGrp="1"/>
          </p:cNvSpPr>
          <p:nvPr>
            <p:ph type="sldNum" sz="quarter" idx="5"/>
          </p:nvPr>
        </p:nvSpPr>
        <p:spPr/>
        <p:txBody>
          <a:bodyPr/>
          <a:lstStyle/>
          <a:p>
            <a:fld id="{74A85DC7-7D2C-4ED2-8464-8A663E44FCCC}" type="slidenum">
              <a:rPr lang="en-GB" smtClean="0"/>
              <a:t>5</a:t>
            </a:fld>
            <a:endParaRPr lang="en-GB"/>
          </a:p>
        </p:txBody>
      </p:sp>
    </p:spTree>
    <p:extLst>
      <p:ext uri="{BB962C8B-B14F-4D97-AF65-F5344CB8AC3E}">
        <p14:creationId xmlns:p14="http://schemas.microsoft.com/office/powerpoint/2010/main" val="283017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2AEE-89BA-0037-3418-6E25561DD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17FE7-E72B-248F-3E8A-16BC92CCE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388F2-F336-37B2-C568-AD404FF08DB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F4078BD-67FA-FC0F-39D4-C68396895DA2}"/>
              </a:ext>
            </a:extLst>
          </p:cNvPr>
          <p:cNvSpPr>
            <a:spLocks noGrp="1"/>
          </p:cNvSpPr>
          <p:nvPr>
            <p:ph type="sldNum" sz="quarter" idx="5"/>
          </p:nvPr>
        </p:nvSpPr>
        <p:spPr/>
        <p:txBody>
          <a:bodyPr/>
          <a:lstStyle/>
          <a:p>
            <a:fld id="{91AADB5E-DD09-4D79-AFE1-3773FDFDAED6}" type="slidenum">
              <a:rPr lang="en-GB" smtClean="0"/>
              <a:t>6</a:t>
            </a:fld>
            <a:endParaRPr lang="en-GB"/>
          </a:p>
        </p:txBody>
      </p:sp>
    </p:spTree>
    <p:extLst>
      <p:ext uri="{BB962C8B-B14F-4D97-AF65-F5344CB8AC3E}">
        <p14:creationId xmlns:p14="http://schemas.microsoft.com/office/powerpoint/2010/main" val="330689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87353-5FDD-BA1C-2C0B-1DF36C8B2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23932-48FA-6C5B-58AB-2EC3F5B74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36E73-05CE-0821-EDD5-5E4EBCE066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530079-4D8D-DB3A-21CD-864D25BC52E3}"/>
              </a:ext>
            </a:extLst>
          </p:cNvPr>
          <p:cNvSpPr>
            <a:spLocks noGrp="1"/>
          </p:cNvSpPr>
          <p:nvPr>
            <p:ph type="sldNum" sz="quarter" idx="5"/>
          </p:nvPr>
        </p:nvSpPr>
        <p:spPr/>
        <p:txBody>
          <a:bodyPr/>
          <a:lstStyle/>
          <a:p>
            <a:fld id="{74A85DC7-7D2C-4ED2-8464-8A663E44FCCC}" type="slidenum">
              <a:rPr lang="en-GB" smtClean="0"/>
              <a:t>7</a:t>
            </a:fld>
            <a:endParaRPr lang="en-GB"/>
          </a:p>
        </p:txBody>
      </p:sp>
    </p:spTree>
    <p:extLst>
      <p:ext uri="{BB962C8B-B14F-4D97-AF65-F5344CB8AC3E}">
        <p14:creationId xmlns:p14="http://schemas.microsoft.com/office/powerpoint/2010/main" val="2080888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30E7D-B6BD-1E38-8167-48CCA091D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1E7AA-4E34-F0F1-33C6-9FB6BB2B6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5CE97-3B96-9AC9-E8BC-753E3E33FA2C}"/>
              </a:ext>
            </a:extLst>
          </p:cNvPr>
          <p:cNvSpPr>
            <a:spLocks noGrp="1"/>
          </p:cNvSpPr>
          <p:nvPr>
            <p:ph type="body" idx="1"/>
          </p:nvPr>
        </p:nvSpPr>
        <p:spPr/>
        <p:txBody>
          <a:bodyPr/>
          <a:lstStyle/>
          <a:p>
            <a:r>
              <a:rPr lang="en-US" dirty="0"/>
              <a:t>Now let's talk about one of my favorite visuals for real estate dashboards — the Gantt chart.</a:t>
            </a:r>
          </a:p>
          <a:p>
            <a:r>
              <a:rPr lang="en-US" dirty="0"/>
              <a:t>A Gantt chart is a really powerful way to visualize lease timelines across your entire portfolio. It gives you an at-a-glance view of when leases start, when they expire, and where the gaps are.</a:t>
            </a:r>
          </a:p>
          <a:p>
            <a:r>
              <a:rPr lang="en-US" dirty="0"/>
              <a:t>To build this, you'll want to grab the Microsoft Gantt Chart visual from AppSource. It's free, and it works great for this use case.</a:t>
            </a:r>
          </a:p>
          <a:p>
            <a:r>
              <a:rPr lang="en-US" dirty="0"/>
              <a:t>Once you've added it, I'd recommend aggregating your data by year. If you try to show every single day, the chart gets cluttered fast — grouping by year keeps things clean and easy to read.</a:t>
            </a:r>
          </a:p>
          <a:p>
            <a:r>
              <a:rPr lang="en-US" dirty="0"/>
              <a:t>You'll also want to spend a minute adjusting the label widths and font sizes. The defaults can be a bit tight, so widening the labels and bumping up the font size makes a big difference in readability.</a:t>
            </a:r>
          </a:p>
          <a:p>
            <a:r>
              <a:rPr lang="en-US" dirty="0"/>
              <a:t>And here's the key part — we're using two calculated columns, LeaseStart Filled and LeaseExpiry Filled, to make sure vacant units actually show up on the chart. Without these, any unit that doesn't have an active lease would just be invisible, and that's exactly the information you don't want to miss.</a:t>
            </a:r>
          </a:p>
        </p:txBody>
      </p:sp>
      <p:sp>
        <p:nvSpPr>
          <p:cNvPr id="4" name="Slide Number Placeholder 3">
            <a:extLst>
              <a:ext uri="{FF2B5EF4-FFF2-40B4-BE49-F238E27FC236}">
                <a16:creationId xmlns:a16="http://schemas.microsoft.com/office/drawing/2014/main" id="{7B7018A8-CC6F-F43A-AB33-137E79DC0C6F}"/>
              </a:ext>
            </a:extLst>
          </p:cNvPr>
          <p:cNvSpPr>
            <a:spLocks noGrp="1"/>
          </p:cNvSpPr>
          <p:nvPr>
            <p:ph type="sldNum" sz="quarter" idx="5"/>
          </p:nvPr>
        </p:nvSpPr>
        <p:spPr/>
        <p:txBody>
          <a:bodyPr/>
          <a:lstStyle/>
          <a:p>
            <a:fld id="{91AADB5E-DD09-4D79-AFE1-3773FDFDAED6}" type="slidenum">
              <a:rPr lang="en-GB" smtClean="0"/>
              <a:t>8</a:t>
            </a:fld>
            <a:endParaRPr lang="en-GB"/>
          </a:p>
        </p:txBody>
      </p:sp>
    </p:spTree>
    <p:extLst>
      <p:ext uri="{BB962C8B-B14F-4D97-AF65-F5344CB8AC3E}">
        <p14:creationId xmlns:p14="http://schemas.microsoft.com/office/powerpoint/2010/main" val="759926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91AADB5E-DD09-4D79-AFE1-3773FDFDAED6}" type="slidenum">
              <a:rPr lang="en-GB" smtClean="0"/>
              <a:t>9</a:t>
            </a:fld>
            <a:endParaRPr lang="en-GB"/>
          </a:p>
        </p:txBody>
      </p:sp>
    </p:spTree>
    <p:extLst>
      <p:ext uri="{BB962C8B-B14F-4D97-AF65-F5344CB8AC3E}">
        <p14:creationId xmlns:p14="http://schemas.microsoft.com/office/powerpoint/2010/main" val="275435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EF6C-83B6-6450-9D44-5F567B170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CBE78-0665-0AC9-5CB0-7C94C40379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69E7E-AD2F-2544-3177-1F472ACD93F6}"/>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8B6AAC48-2871-CA96-1237-7E2721651CE8}"/>
              </a:ext>
            </a:extLst>
          </p:cNvPr>
          <p:cNvSpPr>
            <a:spLocks noGrp="1"/>
          </p:cNvSpPr>
          <p:nvPr>
            <p:ph type="sldNum" sz="quarter" idx="5"/>
          </p:nvPr>
        </p:nvSpPr>
        <p:spPr/>
        <p:txBody>
          <a:bodyPr/>
          <a:lstStyle/>
          <a:p>
            <a:fld id="{91AADB5E-DD09-4D79-AFE1-3773FDFDAED6}" type="slidenum">
              <a:rPr lang="en-GB" smtClean="0"/>
              <a:t>10</a:t>
            </a:fld>
            <a:endParaRPr lang="en-GB"/>
          </a:p>
        </p:txBody>
      </p:sp>
    </p:spTree>
    <p:extLst>
      <p:ext uri="{BB962C8B-B14F-4D97-AF65-F5344CB8AC3E}">
        <p14:creationId xmlns:p14="http://schemas.microsoft.com/office/powerpoint/2010/main" val="1558502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ADE4F-FD7A-4DCB-5795-4158B02F5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3D0AA-CB1A-2143-C74D-1E7F3E32F07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8594490-0AE5-C709-FDF2-F223E47ED49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FDE0235-EC4F-3E9F-54B8-6F82BCBD99AE}"/>
              </a:ext>
            </a:extLst>
          </p:cNvPr>
          <p:cNvSpPr>
            <a:spLocks noGrp="1"/>
          </p:cNvSpPr>
          <p:nvPr>
            <p:ph type="sldNum" sz="quarter" idx="5"/>
          </p:nvPr>
        </p:nvSpPr>
        <p:spPr/>
        <p:txBody>
          <a:bodyPr/>
          <a:lstStyle/>
          <a:p>
            <a:fld id="{91AADB5E-DD09-4D79-AFE1-3773FDFDAED6}" type="slidenum">
              <a:rPr lang="en-GB" smtClean="0"/>
              <a:t>11</a:t>
            </a:fld>
            <a:endParaRPr lang="en-GB"/>
          </a:p>
        </p:txBody>
      </p:sp>
    </p:spTree>
    <p:extLst>
      <p:ext uri="{BB962C8B-B14F-4D97-AF65-F5344CB8AC3E}">
        <p14:creationId xmlns:p14="http://schemas.microsoft.com/office/powerpoint/2010/main" val="4128415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9644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yfiel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descr="A black and white sign&#10;&#10;Description automatically generated with low confidence">
            <a:extLst>
              <a:ext uri="{FF2B5EF4-FFF2-40B4-BE49-F238E27FC236}">
                <a16:creationId xmlns:a16="http://schemas.microsoft.com/office/drawing/2014/main" id="{BD1B81AB-66D9-32C5-285E-FC415C01ED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228" y="6314160"/>
            <a:ext cx="1622976" cy="333054"/>
          </a:xfrm>
          <a:prstGeom prst="rect">
            <a:avLst/>
          </a:prstGeom>
        </p:spPr>
      </p:pic>
      <p:sp>
        <p:nvSpPr>
          <p:cNvPr id="2" name="object 16">
            <a:extLst>
              <a:ext uri="{FF2B5EF4-FFF2-40B4-BE49-F238E27FC236}">
                <a16:creationId xmlns:a16="http://schemas.microsoft.com/office/drawing/2014/main" id="{488A4DF8-5D74-F9C4-8054-F3F7BBB51CF0}"/>
              </a:ext>
            </a:extLst>
          </p:cNvPr>
          <p:cNvSpPr txBox="1">
            <a:spLocks/>
          </p:cNvSpPr>
          <p:nvPr userDrawn="1"/>
        </p:nvSpPr>
        <p:spPr>
          <a:xfrm>
            <a:off x="320171" y="6304595"/>
            <a:ext cx="400130" cy="261610"/>
          </a:xfrm>
          <a:prstGeom prst="rect">
            <a:avLst/>
          </a:prstGeom>
        </p:spPr>
        <p:txBody>
          <a:bodyPr vert="horz" wrap="square" lIns="0" tIns="1524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120"/>
              </a:spcBef>
            </a:pPr>
            <a:fld id="{81D60167-4931-47E6-BA6A-407CBD079E47}" type="slidenum">
              <a:rPr lang="en-GB" sz="1600" b="1" spc="100" smtClean="0">
                <a:solidFill>
                  <a:srgbClr val="312F7D"/>
                </a:solidFill>
                <a:latin typeface="Arial" panose="020B0604020202020204" pitchFamily="34" charset="0"/>
                <a:cs typeface="Arial" panose="020B0604020202020204" pitchFamily="34" charset="0"/>
              </a:rPr>
              <a:pPr marL="38100">
                <a:spcBef>
                  <a:spcPts val="120"/>
                </a:spcBef>
              </a:pPr>
              <a:t>‹#›</a:t>
            </a:fld>
            <a:endParaRPr lang="en-GB" sz="1600" b="1" spc="100">
              <a:solidFill>
                <a:srgbClr val="312F7D"/>
              </a:solidFill>
              <a:latin typeface="Arial" panose="020B0604020202020204" pitchFamily="34" charset="0"/>
              <a:cs typeface="Arial" panose="020B0604020202020204" pitchFamily="34" charset="0"/>
            </a:endParaRPr>
          </a:p>
        </p:txBody>
      </p:sp>
      <p:sp>
        <p:nvSpPr>
          <p:cNvPr id="4" name="Title 4">
            <a:extLst>
              <a:ext uri="{FF2B5EF4-FFF2-40B4-BE49-F238E27FC236}">
                <a16:creationId xmlns:a16="http://schemas.microsoft.com/office/drawing/2014/main" id="{E96B8D8A-E8B2-5215-9926-964A368E95C4}"/>
              </a:ext>
            </a:extLst>
          </p:cNvPr>
          <p:cNvSpPr>
            <a:spLocks noGrp="1"/>
          </p:cNvSpPr>
          <p:nvPr>
            <p:ph type="title"/>
          </p:nvPr>
        </p:nvSpPr>
        <p:spPr>
          <a:xfrm>
            <a:off x="422564" y="358310"/>
            <a:ext cx="10515600" cy="418068"/>
          </a:xfrm>
          <a:prstGeom prst="rect">
            <a:avLst/>
          </a:prstGeom>
        </p:spPr>
        <p:txBody>
          <a:bodyPr/>
          <a:lstStyle>
            <a:lvl1pPr>
              <a:defRPr sz="2300" b="1">
                <a:solidFill>
                  <a:srgbClr val="312F7D"/>
                </a:solidFill>
                <a:latin typeface="Avenir Heavy" panose="02000503020000020003"/>
              </a:defRPr>
            </a:lvl1pPr>
          </a:lstStyle>
          <a:p>
            <a:r>
              <a:rPr lang="en-US" dirty="0"/>
              <a:t>Click to edit Master title style</a:t>
            </a:r>
            <a:endParaRPr lang="en-GB" dirty="0"/>
          </a:p>
        </p:txBody>
      </p:sp>
      <p:sp>
        <p:nvSpPr>
          <p:cNvPr id="6" name="Text Placeholder 5">
            <a:extLst>
              <a:ext uri="{FF2B5EF4-FFF2-40B4-BE49-F238E27FC236}">
                <a16:creationId xmlns:a16="http://schemas.microsoft.com/office/drawing/2014/main" id="{560C9101-252F-4885-A610-260287762404}"/>
              </a:ext>
            </a:extLst>
          </p:cNvPr>
          <p:cNvSpPr>
            <a:spLocks noGrp="1"/>
          </p:cNvSpPr>
          <p:nvPr>
            <p:ph type="body" sz="quarter" idx="10" hasCustomPrompt="1"/>
          </p:nvPr>
        </p:nvSpPr>
        <p:spPr>
          <a:xfrm>
            <a:off x="854764" y="6330098"/>
            <a:ext cx="5813425" cy="261937"/>
          </a:xfrm>
          <a:prstGeom prst="rect">
            <a:avLst/>
          </a:prstGeom>
        </p:spPr>
        <p:txBody>
          <a:bodyPr/>
          <a:lstStyle>
            <a:lvl1pPr>
              <a:buNone/>
              <a:defRPr sz="1600" b="1">
                <a:solidFill>
                  <a:srgbClr val="312F7D"/>
                </a:solidFill>
                <a:latin typeface="Avenir Heavy" panose="02000503020000020003"/>
              </a:defRPr>
            </a:lvl1pPr>
            <a:lvl2pPr>
              <a:defRPr>
                <a:latin typeface="Avenir Heavy" panose="02000503020000020003"/>
              </a:defRPr>
            </a:lvl2pPr>
            <a:lvl3pPr>
              <a:defRPr>
                <a:latin typeface="Avenir Heavy" panose="02000503020000020003"/>
              </a:defRPr>
            </a:lvl3pPr>
            <a:lvl4pPr>
              <a:defRPr>
                <a:latin typeface="Avenir Heavy" panose="02000503020000020003"/>
              </a:defRPr>
            </a:lvl4pPr>
            <a:lvl5pPr>
              <a:defRPr>
                <a:latin typeface="Avenir Heavy" panose="02000503020000020003"/>
              </a:defRPr>
            </a:lvl5pPr>
          </a:lstStyle>
          <a:p>
            <a:pPr lvl="0"/>
            <a:r>
              <a:rPr lang="en-US" dirty="0"/>
              <a:t>Webinar Title Here</a:t>
            </a:r>
          </a:p>
        </p:txBody>
      </p:sp>
    </p:spTree>
    <p:extLst>
      <p:ext uri="{BB962C8B-B14F-4D97-AF65-F5344CB8AC3E}">
        <p14:creationId xmlns:p14="http://schemas.microsoft.com/office/powerpoint/2010/main" val="124169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8482-57C4-FFBB-232F-D569A943EA5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4290586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4047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ck 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1968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8482-57C4-FFBB-232F-D569A943EA5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364087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descr="A black and white sign&#10;&#10;Description automatically generated with low confidence">
            <a:extLst>
              <a:ext uri="{FF2B5EF4-FFF2-40B4-BE49-F238E27FC236}">
                <a16:creationId xmlns:a16="http://schemas.microsoft.com/office/drawing/2014/main" id="{BD1B81AB-66D9-32C5-285E-FC415C01ED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228" y="6314160"/>
            <a:ext cx="1622976" cy="333054"/>
          </a:xfrm>
          <a:prstGeom prst="rect">
            <a:avLst/>
          </a:prstGeom>
        </p:spPr>
      </p:pic>
      <p:sp>
        <p:nvSpPr>
          <p:cNvPr id="2" name="object 16">
            <a:extLst>
              <a:ext uri="{FF2B5EF4-FFF2-40B4-BE49-F238E27FC236}">
                <a16:creationId xmlns:a16="http://schemas.microsoft.com/office/drawing/2014/main" id="{488A4DF8-5D74-F9C4-8054-F3F7BBB51CF0}"/>
              </a:ext>
            </a:extLst>
          </p:cNvPr>
          <p:cNvSpPr txBox="1">
            <a:spLocks/>
          </p:cNvSpPr>
          <p:nvPr userDrawn="1"/>
        </p:nvSpPr>
        <p:spPr>
          <a:xfrm>
            <a:off x="320171" y="6304595"/>
            <a:ext cx="400130" cy="261610"/>
          </a:xfrm>
          <a:prstGeom prst="rect">
            <a:avLst/>
          </a:prstGeom>
        </p:spPr>
        <p:txBody>
          <a:bodyPr vert="horz" wrap="square" lIns="0" tIns="1524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120"/>
              </a:spcBef>
            </a:pPr>
            <a:fld id="{81D60167-4931-47E6-BA6A-407CBD079E47}" type="slidenum">
              <a:rPr lang="en-GB" sz="1600" b="1" spc="100" smtClean="0">
                <a:solidFill>
                  <a:srgbClr val="312F7D"/>
                </a:solidFill>
                <a:latin typeface="Arial" panose="020B0604020202020204" pitchFamily="34" charset="0"/>
                <a:cs typeface="Arial" panose="020B0604020202020204" pitchFamily="34" charset="0"/>
              </a:rPr>
              <a:pPr marL="38100">
                <a:spcBef>
                  <a:spcPts val="120"/>
                </a:spcBef>
              </a:pPr>
              <a:t>‹#›</a:t>
            </a:fld>
            <a:endParaRPr lang="en-GB" sz="1600" b="1" spc="100">
              <a:solidFill>
                <a:srgbClr val="312F7D"/>
              </a:solidFill>
              <a:latin typeface="Arial" panose="020B0604020202020204" pitchFamily="34" charset="0"/>
              <a:cs typeface="Arial" panose="020B0604020202020204" pitchFamily="34" charset="0"/>
            </a:endParaRPr>
          </a:p>
        </p:txBody>
      </p:sp>
      <p:sp>
        <p:nvSpPr>
          <p:cNvPr id="4" name="Title 4">
            <a:extLst>
              <a:ext uri="{FF2B5EF4-FFF2-40B4-BE49-F238E27FC236}">
                <a16:creationId xmlns:a16="http://schemas.microsoft.com/office/drawing/2014/main" id="{E96B8D8A-E8B2-5215-9926-964A368E95C4}"/>
              </a:ext>
            </a:extLst>
          </p:cNvPr>
          <p:cNvSpPr>
            <a:spLocks noGrp="1"/>
          </p:cNvSpPr>
          <p:nvPr>
            <p:ph type="title"/>
          </p:nvPr>
        </p:nvSpPr>
        <p:spPr>
          <a:xfrm>
            <a:off x="422564" y="358309"/>
            <a:ext cx="10515600" cy="1325563"/>
          </a:xfrm>
          <a:prstGeom prst="rect">
            <a:avLst/>
          </a:prstGeom>
        </p:spPr>
        <p:txBody>
          <a:bodyPr/>
          <a:lstStyle>
            <a:lvl1pPr>
              <a:defRPr sz="2300" b="1">
                <a:solidFill>
                  <a:srgbClr val="312F7D"/>
                </a:solidFill>
                <a:latin typeface="Avenir Heavy" panose="02000503020000020003"/>
              </a:defRPr>
            </a:lvl1pPr>
          </a:lstStyle>
          <a:p>
            <a:r>
              <a:rPr lang="en-US"/>
              <a:t>Click to edit Master title style</a:t>
            </a:r>
            <a:endParaRPr lang="en-GB"/>
          </a:p>
        </p:txBody>
      </p:sp>
    </p:spTree>
    <p:extLst>
      <p:ext uri="{BB962C8B-B14F-4D97-AF65-F5344CB8AC3E}">
        <p14:creationId xmlns:p14="http://schemas.microsoft.com/office/powerpoint/2010/main" val="119574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64716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6" r:id="rId4"/>
    <p:sldLayoutId id="2147483658" r:id="rId5"/>
    <p:sldLayoutId id="2147483667" r:id="rId6"/>
    <p:sldLayoutId id="21474836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7700F2D-E87A-CE3D-A181-DD21153407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702D26-5BE8-0654-00D3-E8C332AFDC4F}"/>
              </a:ext>
            </a:extLst>
          </p:cNvPr>
          <p:cNvSpPr txBox="1">
            <a:spLocks/>
          </p:cNvSpPr>
          <p:nvPr/>
        </p:nvSpPr>
        <p:spPr>
          <a:xfrm>
            <a:off x="540627" y="2606853"/>
            <a:ext cx="5284820" cy="107565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spcBef>
                <a:spcPts val="0"/>
              </a:spcBef>
            </a:pPr>
            <a:r>
              <a:rPr lang="en-GB" sz="3600" b="1" dirty="0">
                <a:solidFill>
                  <a:srgbClr val="312F7D"/>
                </a:solidFill>
                <a:latin typeface="Avenir Heavy" panose="02000503020000020003"/>
              </a:rPr>
              <a:t>Building an Interactive Real estate Dashboard in Power BI </a:t>
            </a:r>
          </a:p>
        </p:txBody>
      </p:sp>
      <p:pic>
        <p:nvPicPr>
          <p:cNvPr id="3" name="Picture 2" descr="A blue letters on a black background&#10;&#10;Description automatically generated">
            <a:extLst>
              <a:ext uri="{FF2B5EF4-FFF2-40B4-BE49-F238E27FC236}">
                <a16:creationId xmlns:a16="http://schemas.microsoft.com/office/drawing/2014/main" id="{8BBB4B46-4580-CC7F-C1A8-8E23F88C04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628" y="610941"/>
            <a:ext cx="2777926" cy="570063"/>
          </a:xfrm>
          <a:prstGeom prst="rect">
            <a:avLst/>
          </a:prstGeom>
        </p:spPr>
      </p:pic>
    </p:spTree>
    <p:extLst>
      <p:ext uri="{BB962C8B-B14F-4D97-AF65-F5344CB8AC3E}">
        <p14:creationId xmlns:p14="http://schemas.microsoft.com/office/powerpoint/2010/main" val="207249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9A9EE-043F-3EEF-30B3-2BA27744D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EF15A-2206-69D1-3246-9DA9399188E9}"/>
              </a:ext>
            </a:extLst>
          </p:cNvPr>
          <p:cNvSpPr>
            <a:spLocks noGrp="1"/>
          </p:cNvSpPr>
          <p:nvPr>
            <p:ph type="title"/>
          </p:nvPr>
        </p:nvSpPr>
        <p:spPr>
          <a:xfrm>
            <a:off x="412290" y="304126"/>
            <a:ext cx="10515600" cy="418068"/>
          </a:xfrm>
        </p:spPr>
        <p:txBody>
          <a:bodyPr/>
          <a:lstStyle/>
          <a:p>
            <a:r>
              <a:rPr lang="en-GB" sz="2800" spc="3" dirty="0"/>
              <a:t>About Me</a:t>
            </a:r>
            <a:endParaRPr lang="en-GB" sz="2800" dirty="0"/>
          </a:p>
        </p:txBody>
      </p:sp>
      <p:sp>
        <p:nvSpPr>
          <p:cNvPr id="3" name="Text Placeholder 2">
            <a:extLst>
              <a:ext uri="{FF2B5EF4-FFF2-40B4-BE49-F238E27FC236}">
                <a16:creationId xmlns:a16="http://schemas.microsoft.com/office/drawing/2014/main" id="{8FB189AE-DB21-63AC-C97C-BBF3714AE896}"/>
              </a:ext>
            </a:extLst>
          </p:cNvPr>
          <p:cNvSpPr>
            <a:spLocks noGrp="1"/>
          </p:cNvSpPr>
          <p:nvPr>
            <p:ph type="body" sz="quarter" idx="10"/>
          </p:nvPr>
        </p:nvSpPr>
        <p:spPr>
          <a:xfrm>
            <a:off x="815480" y="6281663"/>
            <a:ext cx="5813425" cy="261937"/>
          </a:xfrm>
        </p:spPr>
        <p:txBody>
          <a:bodyPr/>
          <a:lstStyle/>
          <a:p>
            <a:pPr>
              <a:lnSpc>
                <a:spcPct val="100000"/>
              </a:lnSpc>
              <a:spcBef>
                <a:spcPts val="0"/>
              </a:spcBef>
            </a:pPr>
            <a:r>
              <a:rPr lang="en-GB" dirty="0"/>
              <a:t>Building an Interactive Real estate Dashboard in Power BI </a:t>
            </a:r>
          </a:p>
        </p:txBody>
      </p:sp>
      <p:sp>
        <p:nvSpPr>
          <p:cNvPr id="4" name="Rectangle: Rounded Corners 3">
            <a:extLst>
              <a:ext uri="{FF2B5EF4-FFF2-40B4-BE49-F238E27FC236}">
                <a16:creationId xmlns:a16="http://schemas.microsoft.com/office/drawing/2014/main" id="{1BA2E303-D27A-19B6-C6B4-65583B67B2D8}"/>
              </a:ext>
            </a:extLst>
          </p:cNvPr>
          <p:cNvSpPr/>
          <p:nvPr/>
        </p:nvSpPr>
        <p:spPr>
          <a:xfrm>
            <a:off x="553092" y="1037691"/>
            <a:ext cx="11085816" cy="4284322"/>
          </a:xfrm>
          <a:prstGeom prst="roundRect">
            <a:avLst/>
          </a:prstGeom>
          <a:solidFill>
            <a:schemeClr val="bg1"/>
          </a:solidFill>
          <a:ln w="28575">
            <a:solidFill>
              <a:srgbClr val="56BC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E988D2D7-AC4A-36CA-B17E-BE68604738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315" y="1535987"/>
            <a:ext cx="1997384" cy="1997384"/>
          </a:xfrm>
          <a:prstGeom prst="rect">
            <a:avLst/>
          </a:prstGeom>
        </p:spPr>
      </p:pic>
      <p:sp>
        <p:nvSpPr>
          <p:cNvPr id="8" name="Content Placeholder 2">
            <a:extLst>
              <a:ext uri="{FF2B5EF4-FFF2-40B4-BE49-F238E27FC236}">
                <a16:creationId xmlns:a16="http://schemas.microsoft.com/office/drawing/2014/main" id="{44E3B9BD-51BF-E7BB-7493-E3B41CECC226}"/>
              </a:ext>
            </a:extLst>
          </p:cNvPr>
          <p:cNvSpPr txBox="1">
            <a:spLocks/>
          </p:cNvSpPr>
          <p:nvPr/>
        </p:nvSpPr>
        <p:spPr>
          <a:xfrm>
            <a:off x="3890128" y="1797460"/>
            <a:ext cx="7231317" cy="2723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Microsoft Excel MVP and LinkedIn Learning Instructor</a:t>
            </a:r>
          </a:p>
          <a:p>
            <a:pPr marL="0" indent="0">
              <a:buNone/>
            </a:pPr>
            <a:r>
              <a:rPr lang="en-US" sz="2000" dirty="0"/>
              <a:t>Author of </a:t>
            </a:r>
            <a:r>
              <a:rPr lang="en-US" sz="2000" i="1" dirty="0"/>
              <a:t>Modern Data Analytics in Excel</a:t>
            </a:r>
            <a:r>
              <a:rPr lang="en-US" sz="2000" dirty="0"/>
              <a:t> (O’Reilly)</a:t>
            </a:r>
          </a:p>
          <a:p>
            <a:pPr marL="0" indent="0">
              <a:buNone/>
            </a:pPr>
            <a:r>
              <a:rPr lang="en-US" sz="2000" dirty="0"/>
              <a:t>Trainer and consultant for Fortune 500 firms, banks, and real estate professionals</a:t>
            </a:r>
          </a:p>
          <a:p>
            <a:pPr marL="0" indent="0">
              <a:buNone/>
            </a:pPr>
            <a:r>
              <a:rPr lang="en-US" sz="2000" dirty="0"/>
              <a:t>Speaker at Global Excel Summit and other major conferences</a:t>
            </a:r>
          </a:p>
          <a:p>
            <a:pPr marL="0" indent="0">
              <a:buNone/>
            </a:pPr>
            <a:r>
              <a:rPr lang="en-US" sz="2000" dirty="0"/>
              <a:t>Founder of </a:t>
            </a:r>
            <a:r>
              <a:rPr lang="en-US" sz="2000" dirty="0" err="1"/>
              <a:t>Stringfest</a:t>
            </a:r>
            <a:r>
              <a:rPr lang="en-US" sz="2000" dirty="0"/>
              <a:t> Analytics, helping professionals turn data into clarity and insight</a:t>
            </a:r>
          </a:p>
        </p:txBody>
      </p:sp>
      <p:sp>
        <p:nvSpPr>
          <p:cNvPr id="9" name="Content Placeholder 2">
            <a:extLst>
              <a:ext uri="{FF2B5EF4-FFF2-40B4-BE49-F238E27FC236}">
                <a16:creationId xmlns:a16="http://schemas.microsoft.com/office/drawing/2014/main" id="{20CE1B20-FAF1-CE5D-B549-A949DD0BA362}"/>
              </a:ext>
            </a:extLst>
          </p:cNvPr>
          <p:cNvSpPr txBox="1">
            <a:spLocks/>
          </p:cNvSpPr>
          <p:nvPr/>
        </p:nvSpPr>
        <p:spPr>
          <a:xfrm>
            <a:off x="872436" y="3675878"/>
            <a:ext cx="2436688" cy="75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solidFill>
                  <a:srgbClr val="312F7D"/>
                </a:solidFill>
              </a:rPr>
              <a:t>George Mount </a:t>
            </a:r>
            <a:endParaRPr lang="en-US" sz="2000" b="1" dirty="0">
              <a:solidFill>
                <a:srgbClr val="312F7D"/>
              </a:solidFill>
            </a:endParaRPr>
          </a:p>
          <a:p>
            <a:pPr marL="0" indent="0">
              <a:buNone/>
            </a:pPr>
            <a:r>
              <a:rPr lang="en-US" sz="2000" dirty="0"/>
              <a:t>Founder| </a:t>
            </a:r>
            <a:r>
              <a:rPr lang="en-US" sz="2000" dirty="0" err="1"/>
              <a:t>Stringfest</a:t>
            </a:r>
            <a:r>
              <a:rPr lang="en-US" sz="2000" dirty="0"/>
              <a:t> Analytics</a:t>
            </a:r>
          </a:p>
        </p:txBody>
      </p:sp>
      <p:sp>
        <p:nvSpPr>
          <p:cNvPr id="10" name="Oval 9">
            <a:extLst>
              <a:ext uri="{FF2B5EF4-FFF2-40B4-BE49-F238E27FC236}">
                <a16:creationId xmlns:a16="http://schemas.microsoft.com/office/drawing/2014/main" id="{AB2D1421-54A3-1B40-EBE4-4E5F46019BDE}"/>
              </a:ext>
            </a:extLst>
          </p:cNvPr>
          <p:cNvSpPr/>
          <p:nvPr/>
        </p:nvSpPr>
        <p:spPr>
          <a:xfrm flipH="1">
            <a:off x="3558703" y="1889927"/>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514C05BA-6595-4B36-7BFD-18F660592361}"/>
              </a:ext>
            </a:extLst>
          </p:cNvPr>
          <p:cNvSpPr/>
          <p:nvPr/>
        </p:nvSpPr>
        <p:spPr>
          <a:xfrm flipH="1">
            <a:off x="3558703" y="2280085"/>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665D6F56-BF57-0689-7F28-5D98B9DD610C}"/>
              </a:ext>
            </a:extLst>
          </p:cNvPr>
          <p:cNvSpPr/>
          <p:nvPr/>
        </p:nvSpPr>
        <p:spPr>
          <a:xfrm flipH="1">
            <a:off x="3558703" y="2670243"/>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AC237F6C-39DE-A232-B7BE-0A4C91CAA31A}"/>
              </a:ext>
            </a:extLst>
          </p:cNvPr>
          <p:cNvSpPr/>
          <p:nvPr/>
        </p:nvSpPr>
        <p:spPr>
          <a:xfrm flipH="1">
            <a:off x="3558703" y="3341669"/>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BD17C65-7355-0F3E-EE63-EDD665127AE5}"/>
              </a:ext>
            </a:extLst>
          </p:cNvPr>
          <p:cNvSpPr/>
          <p:nvPr/>
        </p:nvSpPr>
        <p:spPr>
          <a:xfrm flipH="1">
            <a:off x="3558703" y="3774957"/>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7371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97AEE-8C58-4F72-17FA-A827578D1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6ED1D-458E-7EC1-BD48-A8FF708E55C5}"/>
              </a:ext>
            </a:extLst>
          </p:cNvPr>
          <p:cNvSpPr>
            <a:spLocks noGrp="1"/>
          </p:cNvSpPr>
          <p:nvPr>
            <p:ph type="title"/>
          </p:nvPr>
        </p:nvSpPr>
        <p:spPr>
          <a:xfrm>
            <a:off x="412290" y="304126"/>
            <a:ext cx="10515600" cy="418068"/>
          </a:xfrm>
        </p:spPr>
        <p:txBody>
          <a:bodyPr/>
          <a:lstStyle/>
          <a:p>
            <a:r>
              <a:rPr lang="en-GB" sz="2800" spc="3" dirty="0"/>
              <a:t>Webinar 1 &amp; 2 Recap</a:t>
            </a:r>
            <a:endParaRPr lang="en-GB" sz="2800" dirty="0"/>
          </a:p>
        </p:txBody>
      </p:sp>
      <p:sp>
        <p:nvSpPr>
          <p:cNvPr id="17" name="Content Placeholder 2">
            <a:extLst>
              <a:ext uri="{FF2B5EF4-FFF2-40B4-BE49-F238E27FC236}">
                <a16:creationId xmlns:a16="http://schemas.microsoft.com/office/drawing/2014/main" id="{6463EDBC-99C9-8B3D-FE0E-EEBB6D27F2FD}"/>
              </a:ext>
            </a:extLst>
          </p:cNvPr>
          <p:cNvSpPr txBox="1">
            <a:spLocks/>
          </p:cNvSpPr>
          <p:nvPr/>
        </p:nvSpPr>
        <p:spPr>
          <a:xfrm>
            <a:off x="1025232" y="1266880"/>
            <a:ext cx="5647989"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solidFill>
                  <a:srgbClr val="312F7D"/>
                </a:solidFill>
              </a:rPr>
              <a:t>In Webinar 1: </a:t>
            </a:r>
            <a:r>
              <a:rPr lang="en-GB" sz="2000" dirty="0"/>
              <a:t>we cleaned our tenancy schedule in Power Query</a:t>
            </a:r>
          </a:p>
          <a:p>
            <a:pPr marL="0" indent="0">
              <a:buNone/>
            </a:pPr>
            <a:endParaRPr lang="en-GB" sz="2000" dirty="0"/>
          </a:p>
          <a:p>
            <a:pPr marL="0" indent="0">
              <a:buNone/>
            </a:pPr>
            <a:r>
              <a:rPr lang="en-GB" sz="2000" b="1" dirty="0">
                <a:solidFill>
                  <a:srgbClr val="312F7D"/>
                </a:solidFill>
              </a:rPr>
              <a:t>In Webinar 2: </a:t>
            </a:r>
            <a:r>
              <a:rPr lang="en-GB" sz="2000" dirty="0"/>
              <a:t>we modelled relationships and created DAX measures</a:t>
            </a:r>
          </a:p>
          <a:p>
            <a:pPr marL="0" indent="0">
              <a:buNone/>
            </a:pPr>
            <a:endParaRPr lang="en-GB" sz="2000" dirty="0"/>
          </a:p>
          <a:p>
            <a:pPr marL="0" indent="0">
              <a:buNone/>
            </a:pPr>
            <a:r>
              <a:rPr lang="en-GB" sz="2000" b="1" dirty="0">
                <a:solidFill>
                  <a:srgbClr val="312F7D"/>
                </a:solidFill>
              </a:rPr>
              <a:t>Today’s Webinar: </a:t>
            </a:r>
            <a:r>
              <a:rPr lang="en-GB" sz="2000" dirty="0"/>
              <a:t>we will combine it all into an interactive, executive-ready dashboard</a:t>
            </a:r>
          </a:p>
        </p:txBody>
      </p:sp>
      <p:pic>
        <p:nvPicPr>
          <p:cNvPr id="12" name="Picture 11">
            <a:extLst>
              <a:ext uri="{FF2B5EF4-FFF2-40B4-BE49-F238E27FC236}">
                <a16:creationId xmlns:a16="http://schemas.microsoft.com/office/drawing/2014/main" id="{62FF0025-2B56-4FC0-3BF8-8B57520EA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469" y="2454754"/>
            <a:ext cx="418068" cy="418068"/>
          </a:xfrm>
          <a:prstGeom prst="rect">
            <a:avLst/>
          </a:prstGeom>
        </p:spPr>
      </p:pic>
      <p:sp>
        <p:nvSpPr>
          <p:cNvPr id="3" name="Freeform 8">
            <a:extLst>
              <a:ext uri="{FF2B5EF4-FFF2-40B4-BE49-F238E27FC236}">
                <a16:creationId xmlns:a16="http://schemas.microsoft.com/office/drawing/2014/main" id="{4F507EDF-EB8B-90D5-4F01-16BED5762C1F}"/>
              </a:ext>
            </a:extLst>
          </p:cNvPr>
          <p:cNvSpPr/>
          <p:nvPr/>
        </p:nvSpPr>
        <p:spPr>
          <a:xfrm>
            <a:off x="524469" y="1373241"/>
            <a:ext cx="418068" cy="418068"/>
          </a:xfrm>
          <a:custGeom>
            <a:avLst/>
            <a:gdLst/>
            <a:ahLst/>
            <a:cxnLst/>
            <a:rect l="l" t="t" r="r" b="b"/>
            <a:pathLst>
              <a:path w="765788" h="765788">
                <a:moveTo>
                  <a:pt x="0" y="0"/>
                </a:moveTo>
                <a:lnTo>
                  <a:pt x="765788" y="0"/>
                </a:lnTo>
                <a:lnTo>
                  <a:pt x="765788" y="765788"/>
                </a:lnTo>
                <a:lnTo>
                  <a:pt x="0" y="7657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7" name="Freeform 10">
            <a:extLst>
              <a:ext uri="{FF2B5EF4-FFF2-40B4-BE49-F238E27FC236}">
                <a16:creationId xmlns:a16="http://schemas.microsoft.com/office/drawing/2014/main" id="{C9D2AE58-57D3-BC7C-110F-A4B9E575B0EE}"/>
              </a:ext>
            </a:extLst>
          </p:cNvPr>
          <p:cNvSpPr/>
          <p:nvPr/>
        </p:nvSpPr>
        <p:spPr>
          <a:xfrm>
            <a:off x="524469" y="3536267"/>
            <a:ext cx="418068" cy="424975"/>
          </a:xfrm>
          <a:custGeom>
            <a:avLst/>
            <a:gdLst/>
            <a:ahLst/>
            <a:cxnLst/>
            <a:rect l="l" t="t" r="r" b="b"/>
            <a:pathLst>
              <a:path w="765788" h="778438">
                <a:moveTo>
                  <a:pt x="0" y="0"/>
                </a:moveTo>
                <a:lnTo>
                  <a:pt x="765788" y="0"/>
                </a:lnTo>
                <a:lnTo>
                  <a:pt x="765788" y="778438"/>
                </a:lnTo>
                <a:lnTo>
                  <a:pt x="0" y="7784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grpSp>
        <p:nvGrpSpPr>
          <p:cNvPr id="8" name="Group 4">
            <a:extLst>
              <a:ext uri="{FF2B5EF4-FFF2-40B4-BE49-F238E27FC236}">
                <a16:creationId xmlns:a16="http://schemas.microsoft.com/office/drawing/2014/main" id="{DBF51F1F-90C5-79FC-A622-1D20172FD50F}"/>
              </a:ext>
            </a:extLst>
          </p:cNvPr>
          <p:cNvGrpSpPr/>
          <p:nvPr/>
        </p:nvGrpSpPr>
        <p:grpSpPr>
          <a:xfrm>
            <a:off x="7030536" y="587043"/>
            <a:ext cx="4291586" cy="4983410"/>
            <a:chOff x="0" y="0"/>
            <a:chExt cx="959425" cy="1038826"/>
          </a:xfrm>
        </p:grpSpPr>
        <p:sp>
          <p:nvSpPr>
            <p:cNvPr id="9" name="Freeform 5">
              <a:extLst>
                <a:ext uri="{FF2B5EF4-FFF2-40B4-BE49-F238E27FC236}">
                  <a16:creationId xmlns:a16="http://schemas.microsoft.com/office/drawing/2014/main" id="{3FDC0DBE-69D4-C54C-886A-896874EC99ED}"/>
                </a:ext>
              </a:extLst>
            </p:cNvPr>
            <p:cNvSpPr/>
            <p:nvPr/>
          </p:nvSpPr>
          <p:spPr>
            <a:xfrm>
              <a:off x="0" y="0"/>
              <a:ext cx="959425" cy="1038826"/>
            </a:xfrm>
            <a:custGeom>
              <a:avLst/>
              <a:gdLst/>
              <a:ahLst/>
              <a:cxnLst/>
              <a:rect l="l" t="t" r="r" b="b"/>
              <a:pathLst>
                <a:path w="959425" h="1038826">
                  <a:moveTo>
                    <a:pt x="24382" y="0"/>
                  </a:moveTo>
                  <a:lnTo>
                    <a:pt x="935042" y="0"/>
                  </a:lnTo>
                  <a:cubicBezTo>
                    <a:pt x="948508" y="0"/>
                    <a:pt x="959425" y="10916"/>
                    <a:pt x="959425" y="24382"/>
                  </a:cubicBezTo>
                  <a:lnTo>
                    <a:pt x="959425" y="1014444"/>
                  </a:lnTo>
                  <a:cubicBezTo>
                    <a:pt x="959425" y="1027910"/>
                    <a:pt x="948508" y="1038826"/>
                    <a:pt x="935042" y="1038826"/>
                  </a:cubicBezTo>
                  <a:lnTo>
                    <a:pt x="24382" y="1038826"/>
                  </a:lnTo>
                  <a:cubicBezTo>
                    <a:pt x="10916" y="1038826"/>
                    <a:pt x="0" y="1027910"/>
                    <a:pt x="0" y="1014444"/>
                  </a:cubicBezTo>
                  <a:lnTo>
                    <a:pt x="0" y="24382"/>
                  </a:lnTo>
                  <a:cubicBezTo>
                    <a:pt x="0" y="10916"/>
                    <a:pt x="10916" y="0"/>
                    <a:pt x="24382" y="0"/>
                  </a:cubicBezTo>
                  <a:close/>
                </a:path>
              </a:pathLst>
            </a:custGeom>
            <a:blipFill>
              <a:blip r:embed="rId6"/>
              <a:stretch>
                <a:fillRect l="-26053" r="-138841"/>
              </a:stretch>
            </a:blipFill>
            <a:ln cap="sq">
              <a:noFill/>
              <a:prstDash val="solid"/>
              <a:miter/>
            </a:ln>
          </p:spPr>
          <p:txBody>
            <a:bodyPr/>
            <a:lstStyle/>
            <a:p>
              <a:endParaRPr lang="en-GB" dirty="0"/>
            </a:p>
          </p:txBody>
        </p:sp>
      </p:grpSp>
      <p:sp>
        <p:nvSpPr>
          <p:cNvPr id="10" name="Text Placeholder 2">
            <a:extLst>
              <a:ext uri="{FF2B5EF4-FFF2-40B4-BE49-F238E27FC236}">
                <a16:creationId xmlns:a16="http://schemas.microsoft.com/office/drawing/2014/main" id="{660E4F81-A17E-0DF1-8BD6-1F44308D2E6D}"/>
              </a:ext>
            </a:extLst>
          </p:cNvPr>
          <p:cNvSpPr>
            <a:spLocks noGrp="1"/>
          </p:cNvSpPr>
          <p:nvPr>
            <p:ph type="body" sz="quarter" idx="10"/>
          </p:nvPr>
        </p:nvSpPr>
        <p:spPr>
          <a:xfrm>
            <a:off x="815480" y="6281663"/>
            <a:ext cx="5813425" cy="261937"/>
          </a:xfrm>
        </p:spPr>
        <p:txBody>
          <a:bodyPr/>
          <a:lstStyle/>
          <a:p>
            <a:pPr>
              <a:lnSpc>
                <a:spcPct val="100000"/>
              </a:lnSpc>
              <a:spcBef>
                <a:spcPts val="0"/>
              </a:spcBef>
            </a:pPr>
            <a:r>
              <a:rPr lang="en-GB" dirty="0"/>
              <a:t>Building an Interactive Real estate Dashboard in Power BI </a:t>
            </a:r>
          </a:p>
        </p:txBody>
      </p:sp>
    </p:spTree>
    <p:extLst>
      <p:ext uri="{BB962C8B-B14F-4D97-AF65-F5344CB8AC3E}">
        <p14:creationId xmlns:p14="http://schemas.microsoft.com/office/powerpoint/2010/main" val="322599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ED7A-ACC6-CC19-4504-E13A29520155}"/>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BC145E5-C6BD-4607-3033-AD57C04C20C5}"/>
              </a:ext>
            </a:extLst>
          </p:cNvPr>
          <p:cNvSpPr/>
          <p:nvPr/>
        </p:nvSpPr>
        <p:spPr>
          <a:xfrm>
            <a:off x="605125" y="1327379"/>
            <a:ext cx="10515601" cy="4032661"/>
          </a:xfrm>
          <a:prstGeom prst="roundRect">
            <a:avLst/>
          </a:prstGeom>
          <a:solidFill>
            <a:schemeClr val="bg1"/>
          </a:solidFill>
          <a:ln w="38100">
            <a:solidFill>
              <a:srgbClr val="56BC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itle 1">
            <a:extLst>
              <a:ext uri="{FF2B5EF4-FFF2-40B4-BE49-F238E27FC236}">
                <a16:creationId xmlns:a16="http://schemas.microsoft.com/office/drawing/2014/main" id="{122DF50E-E818-D34C-4E54-B03829866429}"/>
              </a:ext>
            </a:extLst>
          </p:cNvPr>
          <p:cNvSpPr>
            <a:spLocks noGrp="1"/>
          </p:cNvSpPr>
          <p:nvPr>
            <p:ph type="title"/>
          </p:nvPr>
        </p:nvSpPr>
        <p:spPr>
          <a:xfrm>
            <a:off x="422564" y="358310"/>
            <a:ext cx="10515600" cy="418068"/>
          </a:xfrm>
        </p:spPr>
        <p:txBody>
          <a:bodyPr/>
          <a:lstStyle/>
          <a:p>
            <a:r>
              <a:rPr lang="en-GB" sz="2800" dirty="0"/>
              <a:t>Agenda</a:t>
            </a:r>
          </a:p>
        </p:txBody>
      </p:sp>
      <p:sp>
        <p:nvSpPr>
          <p:cNvPr id="2" name="Content Placeholder 2">
            <a:extLst>
              <a:ext uri="{FF2B5EF4-FFF2-40B4-BE49-F238E27FC236}">
                <a16:creationId xmlns:a16="http://schemas.microsoft.com/office/drawing/2014/main" id="{FF041537-6C24-17A6-2498-07DD9A8C2194}"/>
              </a:ext>
            </a:extLst>
          </p:cNvPr>
          <p:cNvSpPr txBox="1">
            <a:spLocks/>
          </p:cNvSpPr>
          <p:nvPr/>
        </p:nvSpPr>
        <p:spPr>
          <a:xfrm>
            <a:off x="1819974" y="1559239"/>
            <a:ext cx="8410713" cy="3375671"/>
          </a:xfrm>
          <a:prstGeom prst="rect">
            <a:avLst/>
          </a:prstGeom>
        </p:spPr>
        <p:txBody>
          <a:bodyPr anchor="ct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ctr"/>
            <a:r>
              <a:rPr lang="en-GB" sz="2000" b="1" dirty="0">
                <a:solidFill>
                  <a:schemeClr val="tx1">
                    <a:lumMod val="85000"/>
                    <a:lumOff val="15000"/>
                  </a:schemeClr>
                </a:solidFill>
              </a:rPr>
              <a:t>Review </a:t>
            </a:r>
            <a:r>
              <a:rPr lang="en-GB" sz="2000" dirty="0">
                <a:solidFill>
                  <a:schemeClr val="tx1">
                    <a:lumMod val="85000"/>
                    <a:lumOff val="15000"/>
                  </a:schemeClr>
                </a:solidFill>
              </a:rPr>
              <a:t>key measures and data model</a:t>
            </a:r>
          </a:p>
          <a:p>
            <a:pPr fontAlgn="ctr"/>
            <a:endParaRPr lang="en-GB" sz="2000" dirty="0">
              <a:solidFill>
                <a:schemeClr val="tx1">
                  <a:lumMod val="85000"/>
                  <a:lumOff val="15000"/>
                </a:schemeClr>
              </a:solidFill>
            </a:endParaRPr>
          </a:p>
          <a:p>
            <a:pPr fontAlgn="ctr"/>
            <a:r>
              <a:rPr lang="en-GB" sz="2000" b="1" dirty="0">
                <a:solidFill>
                  <a:schemeClr val="tx1">
                    <a:lumMod val="85000"/>
                    <a:lumOff val="15000"/>
                  </a:schemeClr>
                </a:solidFill>
              </a:rPr>
              <a:t>Design </a:t>
            </a:r>
            <a:r>
              <a:rPr lang="en-GB" sz="2000" dirty="0">
                <a:solidFill>
                  <a:schemeClr val="tx1">
                    <a:lumMod val="85000"/>
                    <a:lumOff val="15000"/>
                  </a:schemeClr>
                </a:solidFill>
              </a:rPr>
              <a:t>the dashboard layout</a:t>
            </a:r>
          </a:p>
          <a:p>
            <a:pPr fontAlgn="ctr"/>
            <a:endParaRPr lang="en-GB" sz="2000" dirty="0">
              <a:solidFill>
                <a:schemeClr val="tx1">
                  <a:lumMod val="85000"/>
                  <a:lumOff val="15000"/>
                </a:schemeClr>
              </a:solidFill>
            </a:endParaRPr>
          </a:p>
          <a:p>
            <a:pPr fontAlgn="ctr"/>
            <a:r>
              <a:rPr lang="en-GB" sz="2000" b="1" dirty="0">
                <a:solidFill>
                  <a:schemeClr val="tx1">
                    <a:lumMod val="85000"/>
                    <a:lumOff val="15000"/>
                  </a:schemeClr>
                </a:solidFill>
              </a:rPr>
              <a:t>Add </a:t>
            </a:r>
            <a:r>
              <a:rPr lang="en-GB" sz="2000" dirty="0">
                <a:solidFill>
                  <a:schemeClr val="tx1">
                    <a:lumMod val="85000"/>
                    <a:lumOff val="15000"/>
                  </a:schemeClr>
                </a:solidFill>
              </a:rPr>
              <a:t>visuals</a:t>
            </a:r>
            <a:r>
              <a:rPr lang="en-GB" sz="2000" b="1" dirty="0">
                <a:solidFill>
                  <a:schemeClr val="tx1">
                    <a:lumMod val="85000"/>
                    <a:lumOff val="15000"/>
                  </a:schemeClr>
                </a:solidFill>
              </a:rPr>
              <a:t> </a:t>
            </a:r>
            <a:r>
              <a:rPr lang="en-GB" sz="2000" dirty="0">
                <a:solidFill>
                  <a:schemeClr val="tx1">
                    <a:lumMod val="85000"/>
                    <a:lumOff val="15000"/>
                  </a:schemeClr>
                </a:solidFill>
              </a:rPr>
              <a:t>for occupancy, rent, and lease KPIs</a:t>
            </a:r>
          </a:p>
          <a:p>
            <a:pPr fontAlgn="ctr"/>
            <a:endParaRPr lang="en-GB" sz="2000" dirty="0">
              <a:solidFill>
                <a:schemeClr val="tx1">
                  <a:lumMod val="85000"/>
                  <a:lumOff val="15000"/>
                </a:schemeClr>
              </a:solidFill>
            </a:endParaRPr>
          </a:p>
          <a:p>
            <a:pPr fontAlgn="ctr"/>
            <a:r>
              <a:rPr lang="en-GB" sz="2000" b="1" dirty="0">
                <a:solidFill>
                  <a:schemeClr val="tx1">
                    <a:lumMod val="85000"/>
                    <a:lumOff val="15000"/>
                  </a:schemeClr>
                </a:solidFill>
              </a:rPr>
              <a:t>Build</a:t>
            </a:r>
            <a:r>
              <a:rPr lang="en-GB" sz="2000" dirty="0">
                <a:solidFill>
                  <a:schemeClr val="tx1">
                    <a:lumMod val="85000"/>
                    <a:lumOff val="15000"/>
                  </a:schemeClr>
                </a:solidFill>
              </a:rPr>
              <a:t> timelines and filters for interactivity</a:t>
            </a:r>
          </a:p>
          <a:p>
            <a:pPr fontAlgn="ctr"/>
            <a:endParaRPr lang="en-GB" sz="2000" dirty="0">
              <a:solidFill>
                <a:schemeClr val="tx1">
                  <a:lumMod val="85000"/>
                  <a:lumOff val="15000"/>
                </a:schemeClr>
              </a:solidFill>
            </a:endParaRPr>
          </a:p>
          <a:p>
            <a:pPr fontAlgn="ctr"/>
            <a:r>
              <a:rPr lang="en-GB" sz="2000" b="1" dirty="0">
                <a:solidFill>
                  <a:schemeClr val="tx1">
                    <a:lumMod val="85000"/>
                    <a:lumOff val="15000"/>
                  </a:schemeClr>
                </a:solidFill>
              </a:rPr>
              <a:t>Format</a:t>
            </a:r>
            <a:r>
              <a:rPr lang="en-GB" sz="2000" dirty="0">
                <a:solidFill>
                  <a:schemeClr val="tx1">
                    <a:lumMod val="85000"/>
                    <a:lumOff val="15000"/>
                  </a:schemeClr>
                </a:solidFill>
              </a:rPr>
              <a:t>, </a:t>
            </a:r>
            <a:r>
              <a:rPr lang="en-GB" sz="2000" b="1" dirty="0">
                <a:solidFill>
                  <a:schemeClr val="tx1">
                    <a:lumMod val="85000"/>
                    <a:lumOff val="15000"/>
                  </a:schemeClr>
                </a:solidFill>
              </a:rPr>
              <a:t>publish</a:t>
            </a:r>
            <a:r>
              <a:rPr lang="en-GB" sz="2000" dirty="0">
                <a:solidFill>
                  <a:schemeClr val="tx1">
                    <a:lumMod val="85000"/>
                    <a:lumOff val="15000"/>
                  </a:schemeClr>
                </a:solidFill>
              </a:rPr>
              <a:t>, and </a:t>
            </a:r>
            <a:r>
              <a:rPr lang="en-GB" sz="2000" b="1" dirty="0">
                <a:solidFill>
                  <a:schemeClr val="tx1">
                    <a:lumMod val="85000"/>
                    <a:lumOff val="15000"/>
                  </a:schemeClr>
                </a:solidFill>
              </a:rPr>
              <a:t>share</a:t>
            </a:r>
            <a:r>
              <a:rPr lang="en-GB" sz="2000" dirty="0">
                <a:solidFill>
                  <a:schemeClr val="tx1">
                    <a:lumMod val="85000"/>
                    <a:lumOff val="15000"/>
                  </a:schemeClr>
                </a:solidFill>
              </a:rPr>
              <a:t> the final report</a:t>
            </a:r>
          </a:p>
        </p:txBody>
      </p:sp>
      <p:sp>
        <p:nvSpPr>
          <p:cNvPr id="5" name="Text Placeholder 2">
            <a:extLst>
              <a:ext uri="{FF2B5EF4-FFF2-40B4-BE49-F238E27FC236}">
                <a16:creationId xmlns:a16="http://schemas.microsoft.com/office/drawing/2014/main" id="{7800E3CD-FC1A-A4B3-8F03-D6597E964307}"/>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6" name="Oval 5">
            <a:extLst>
              <a:ext uri="{FF2B5EF4-FFF2-40B4-BE49-F238E27FC236}">
                <a16:creationId xmlns:a16="http://schemas.microsoft.com/office/drawing/2014/main" id="{6BCFD461-D3EB-74C6-C4AB-1D0B2814F3E8}"/>
              </a:ext>
            </a:extLst>
          </p:cNvPr>
          <p:cNvSpPr/>
          <p:nvPr/>
        </p:nvSpPr>
        <p:spPr>
          <a:xfrm flipH="1">
            <a:off x="1401762" y="1954433"/>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802A932E-4E88-64AA-674B-F64B9274C365}"/>
              </a:ext>
            </a:extLst>
          </p:cNvPr>
          <p:cNvSpPr/>
          <p:nvPr/>
        </p:nvSpPr>
        <p:spPr>
          <a:xfrm flipH="1">
            <a:off x="1401762" y="2562679"/>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777C070-E7F4-99D8-1529-A30EA387E023}"/>
              </a:ext>
            </a:extLst>
          </p:cNvPr>
          <p:cNvSpPr/>
          <p:nvPr/>
        </p:nvSpPr>
        <p:spPr>
          <a:xfrm flipH="1">
            <a:off x="1401762" y="3170925"/>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8C634EF0-2A1E-D6BB-F9B7-FAB7622EC3D1}"/>
              </a:ext>
            </a:extLst>
          </p:cNvPr>
          <p:cNvSpPr/>
          <p:nvPr/>
        </p:nvSpPr>
        <p:spPr>
          <a:xfrm flipH="1">
            <a:off x="1401762" y="3771079"/>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40507E9D-1D5B-0228-D14E-21E4903302C8}"/>
              </a:ext>
            </a:extLst>
          </p:cNvPr>
          <p:cNvSpPr/>
          <p:nvPr/>
        </p:nvSpPr>
        <p:spPr>
          <a:xfrm flipH="1">
            <a:off x="1401762" y="4379325"/>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352ACF8D-A328-9317-D4A7-A8D5C08D33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38568" y="1008238"/>
            <a:ext cx="1474277" cy="1474277"/>
          </a:xfrm>
          <a:prstGeom prst="rect">
            <a:avLst/>
          </a:prstGeom>
        </p:spPr>
      </p:pic>
    </p:spTree>
    <p:extLst>
      <p:ext uri="{BB962C8B-B14F-4D97-AF65-F5344CB8AC3E}">
        <p14:creationId xmlns:p14="http://schemas.microsoft.com/office/powerpoint/2010/main" val="113687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86A05-09A5-578E-63BA-83B4F376027E}"/>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AB2A35BE-20CC-9056-1239-5F1D0989043A}"/>
              </a:ext>
            </a:extLst>
          </p:cNvPr>
          <p:cNvSpPr>
            <a:spLocks noGrp="1"/>
          </p:cNvSpPr>
          <p:nvPr>
            <p:ph type="title"/>
          </p:nvPr>
        </p:nvSpPr>
        <p:spPr>
          <a:xfrm>
            <a:off x="422564" y="358310"/>
            <a:ext cx="10515600" cy="418068"/>
          </a:xfrm>
        </p:spPr>
        <p:txBody>
          <a:bodyPr/>
          <a:lstStyle/>
          <a:p>
            <a:r>
              <a:rPr lang="en-GB" sz="2800" dirty="0"/>
              <a:t>Dashboard Planning</a:t>
            </a:r>
          </a:p>
        </p:txBody>
      </p:sp>
      <p:sp>
        <p:nvSpPr>
          <p:cNvPr id="4" name="AutoShape 2">
            <a:extLst>
              <a:ext uri="{FF2B5EF4-FFF2-40B4-BE49-F238E27FC236}">
                <a16:creationId xmlns:a16="http://schemas.microsoft.com/office/drawing/2014/main" id="{FE5C99E4-4130-8640-3392-BF87F2F95924}"/>
              </a:ext>
            </a:extLst>
          </p:cNvPr>
          <p:cNvSpPr>
            <a:spLocks noChangeAspect="1" noChangeArrowheads="1"/>
          </p:cNvSpPr>
          <p:nvPr/>
        </p:nvSpPr>
        <p:spPr bwMode="auto">
          <a:xfrm>
            <a:off x="5228301" y="2485612"/>
            <a:ext cx="1854485" cy="18544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 name="Text Placeholder 2">
            <a:extLst>
              <a:ext uri="{FF2B5EF4-FFF2-40B4-BE49-F238E27FC236}">
                <a16:creationId xmlns:a16="http://schemas.microsoft.com/office/drawing/2014/main" id="{7FEE8B5A-1242-1BD4-077E-E4906F307C9E}"/>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3" name="Content Placeholder 2">
            <a:extLst>
              <a:ext uri="{FF2B5EF4-FFF2-40B4-BE49-F238E27FC236}">
                <a16:creationId xmlns:a16="http://schemas.microsoft.com/office/drawing/2014/main" id="{0B2B0980-7902-FE4A-942B-C17525D9BECC}"/>
              </a:ext>
            </a:extLst>
          </p:cNvPr>
          <p:cNvSpPr txBox="1">
            <a:spLocks/>
          </p:cNvSpPr>
          <p:nvPr/>
        </p:nvSpPr>
        <p:spPr>
          <a:xfrm>
            <a:off x="5557073" y="962092"/>
            <a:ext cx="5709863" cy="1391646"/>
          </a:xfrm>
          <a:prstGeom prst="rect">
            <a:avLst/>
          </a:prstGeom>
        </p:spPr>
        <p:txBody>
          <a:bodyPr anchor="t">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ts val="3084"/>
              </a:lnSpc>
              <a:spcBef>
                <a:spcPct val="0"/>
              </a:spcBef>
            </a:pPr>
            <a:r>
              <a:rPr lang="en-US" b="1" dirty="0">
                <a:solidFill>
                  <a:srgbClr val="000000"/>
                </a:solidFill>
                <a:latin typeface="Calibri (MS) Bold"/>
                <a:ea typeface="Calibri (MS) Bold"/>
                <a:cs typeface="Calibri (MS) Bold"/>
                <a:sym typeface="Calibri (MS) Bold"/>
              </a:rPr>
              <a:t>Identify your main questions:</a:t>
            </a:r>
          </a:p>
          <a:p>
            <a:pPr>
              <a:lnSpc>
                <a:spcPts val="3084"/>
              </a:lnSpc>
              <a:spcBef>
                <a:spcPct val="0"/>
              </a:spcBef>
            </a:pPr>
            <a:endParaRPr lang="en-US" b="1" dirty="0">
              <a:solidFill>
                <a:srgbClr val="000000"/>
              </a:solidFill>
              <a:latin typeface="Calibri (MS) Bold"/>
              <a:ea typeface="Calibri (MS) Bold"/>
              <a:cs typeface="Calibri (MS) Bold"/>
              <a:sym typeface="Calibri (MS) Bold"/>
            </a:endParaRPr>
          </a:p>
          <a:p>
            <a:pPr marL="800100" lvl="1" indent="-342900">
              <a:lnSpc>
                <a:spcPts val="3084"/>
              </a:lnSpc>
              <a:buFont typeface="Arial" panose="020B0604020202020204" pitchFamily="34" charset="0"/>
              <a:buChar char="•"/>
            </a:pPr>
            <a:r>
              <a:rPr lang="en-US" dirty="0">
                <a:solidFill>
                  <a:srgbClr val="000000"/>
                </a:solidFill>
                <a:latin typeface="Calibri (MS)"/>
                <a:ea typeface="Calibri (MS)"/>
                <a:cs typeface="Calibri (MS)"/>
                <a:sym typeface="Calibri (MS)"/>
              </a:rPr>
              <a:t>What is our current Occupancy rate?</a:t>
            </a:r>
          </a:p>
          <a:p>
            <a:pPr marL="800100" lvl="1" indent="-342900">
              <a:lnSpc>
                <a:spcPts val="3084"/>
              </a:lnSpc>
              <a:buFont typeface="Arial" panose="020B0604020202020204" pitchFamily="34" charset="0"/>
              <a:buChar char="•"/>
            </a:pPr>
            <a:r>
              <a:rPr lang="en-US" dirty="0">
                <a:solidFill>
                  <a:srgbClr val="000000"/>
                </a:solidFill>
                <a:latin typeface="Calibri (MS)"/>
                <a:ea typeface="Calibri (MS)"/>
                <a:cs typeface="Calibri (MS)"/>
                <a:sym typeface="Calibri (MS)"/>
              </a:rPr>
              <a:t>Which leases are nearing expiry?</a:t>
            </a:r>
          </a:p>
          <a:p>
            <a:pPr marL="800100" lvl="1" indent="-342900">
              <a:lnSpc>
                <a:spcPts val="3084"/>
              </a:lnSpc>
              <a:spcBef>
                <a:spcPct val="0"/>
              </a:spcBef>
              <a:buFont typeface="Arial" panose="020B0604020202020204" pitchFamily="34" charset="0"/>
              <a:buChar char="•"/>
            </a:pPr>
            <a:r>
              <a:rPr lang="en-US" dirty="0">
                <a:solidFill>
                  <a:srgbClr val="000000"/>
                </a:solidFill>
                <a:latin typeface="Calibri (MS)"/>
                <a:ea typeface="Calibri (MS)"/>
                <a:cs typeface="Calibri (MS)"/>
                <a:sym typeface="Calibri (MS)"/>
              </a:rPr>
              <a:t>Who are our top tenants by rent?</a:t>
            </a:r>
          </a:p>
          <a:p>
            <a:pPr>
              <a:lnSpc>
                <a:spcPts val="3084"/>
              </a:lnSpc>
              <a:spcBef>
                <a:spcPct val="0"/>
              </a:spcBef>
            </a:pPr>
            <a:endParaRPr lang="en-US" b="1" dirty="0">
              <a:solidFill>
                <a:srgbClr val="000000"/>
              </a:solidFill>
              <a:latin typeface="Calibri (MS) Bold"/>
              <a:ea typeface="Calibri (MS) Bold"/>
              <a:cs typeface="Calibri (MS) Bold"/>
              <a:sym typeface="Calibri (MS) Bold"/>
            </a:endParaRPr>
          </a:p>
        </p:txBody>
      </p:sp>
      <p:pic>
        <p:nvPicPr>
          <p:cNvPr id="23" name="Picture 22">
            <a:extLst>
              <a:ext uri="{FF2B5EF4-FFF2-40B4-BE49-F238E27FC236}">
                <a16:creationId xmlns:a16="http://schemas.microsoft.com/office/drawing/2014/main" id="{98A0FBD2-6157-057D-5688-6F647399DB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7188" y="1027636"/>
            <a:ext cx="402227" cy="402227"/>
          </a:xfrm>
          <a:prstGeom prst="rect">
            <a:avLst/>
          </a:prstGeom>
        </p:spPr>
      </p:pic>
      <p:pic>
        <p:nvPicPr>
          <p:cNvPr id="24" name="Picture 23">
            <a:extLst>
              <a:ext uri="{FF2B5EF4-FFF2-40B4-BE49-F238E27FC236}">
                <a16:creationId xmlns:a16="http://schemas.microsoft.com/office/drawing/2014/main" id="{EAF4EC2C-AF4E-C838-22F8-72BAF1D5F9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7188" y="3496722"/>
            <a:ext cx="402227" cy="402227"/>
          </a:xfrm>
          <a:prstGeom prst="rect">
            <a:avLst/>
          </a:prstGeom>
        </p:spPr>
      </p:pic>
      <p:pic>
        <p:nvPicPr>
          <p:cNvPr id="25" name="Picture 24">
            <a:extLst>
              <a:ext uri="{FF2B5EF4-FFF2-40B4-BE49-F238E27FC236}">
                <a16:creationId xmlns:a16="http://schemas.microsoft.com/office/drawing/2014/main" id="{DBE4539C-349F-145B-ED4C-06E685FE23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3514" y="4693187"/>
            <a:ext cx="402227" cy="402227"/>
          </a:xfrm>
          <a:prstGeom prst="rect">
            <a:avLst/>
          </a:prstGeom>
        </p:spPr>
      </p:pic>
      <p:grpSp>
        <p:nvGrpSpPr>
          <p:cNvPr id="5" name="Group 4">
            <a:extLst>
              <a:ext uri="{FF2B5EF4-FFF2-40B4-BE49-F238E27FC236}">
                <a16:creationId xmlns:a16="http://schemas.microsoft.com/office/drawing/2014/main" id="{1DDA793A-E40B-8CC1-5C38-6D4C4DE4017E}"/>
              </a:ext>
            </a:extLst>
          </p:cNvPr>
          <p:cNvGrpSpPr/>
          <p:nvPr/>
        </p:nvGrpSpPr>
        <p:grpSpPr>
          <a:xfrm>
            <a:off x="565524" y="953657"/>
            <a:ext cx="3985927" cy="4674521"/>
            <a:chOff x="0" y="0"/>
            <a:chExt cx="918161" cy="1123418"/>
          </a:xfrm>
        </p:grpSpPr>
        <p:sp>
          <p:nvSpPr>
            <p:cNvPr id="7" name="Freeform 5">
              <a:extLst>
                <a:ext uri="{FF2B5EF4-FFF2-40B4-BE49-F238E27FC236}">
                  <a16:creationId xmlns:a16="http://schemas.microsoft.com/office/drawing/2014/main" id="{9866AACC-7040-AE41-D1F2-C1DB1BEA3DBD}"/>
                </a:ext>
              </a:extLst>
            </p:cNvPr>
            <p:cNvSpPr/>
            <p:nvPr/>
          </p:nvSpPr>
          <p:spPr>
            <a:xfrm>
              <a:off x="0" y="0"/>
              <a:ext cx="918161" cy="1123418"/>
            </a:xfrm>
            <a:custGeom>
              <a:avLst/>
              <a:gdLst/>
              <a:ahLst/>
              <a:cxnLst/>
              <a:rect l="l" t="t" r="r" b="b"/>
              <a:pathLst>
                <a:path w="918161" h="1123418">
                  <a:moveTo>
                    <a:pt x="26815" y="0"/>
                  </a:moveTo>
                  <a:lnTo>
                    <a:pt x="891346" y="0"/>
                  </a:lnTo>
                  <a:cubicBezTo>
                    <a:pt x="898458" y="0"/>
                    <a:pt x="905278" y="2825"/>
                    <a:pt x="910307" y="7854"/>
                  </a:cubicBezTo>
                  <a:cubicBezTo>
                    <a:pt x="915336" y="12883"/>
                    <a:pt x="918161" y="19703"/>
                    <a:pt x="918161" y="26815"/>
                  </a:cubicBezTo>
                  <a:lnTo>
                    <a:pt x="918161" y="1096603"/>
                  </a:lnTo>
                  <a:cubicBezTo>
                    <a:pt x="918161" y="1111413"/>
                    <a:pt x="906156" y="1123418"/>
                    <a:pt x="891346" y="1123418"/>
                  </a:cubicBezTo>
                  <a:lnTo>
                    <a:pt x="26815" y="1123418"/>
                  </a:lnTo>
                  <a:cubicBezTo>
                    <a:pt x="19703" y="1123418"/>
                    <a:pt x="12883" y="1120593"/>
                    <a:pt x="7854" y="1115564"/>
                  </a:cubicBezTo>
                  <a:cubicBezTo>
                    <a:pt x="2825" y="1110536"/>
                    <a:pt x="0" y="1103715"/>
                    <a:pt x="0" y="1096603"/>
                  </a:cubicBezTo>
                  <a:lnTo>
                    <a:pt x="0" y="26815"/>
                  </a:lnTo>
                  <a:cubicBezTo>
                    <a:pt x="0" y="19703"/>
                    <a:pt x="2825" y="12883"/>
                    <a:pt x="7854" y="7854"/>
                  </a:cubicBezTo>
                  <a:cubicBezTo>
                    <a:pt x="12883" y="2825"/>
                    <a:pt x="19703" y="0"/>
                    <a:pt x="26815" y="0"/>
                  </a:cubicBezTo>
                  <a:close/>
                </a:path>
              </a:pathLst>
            </a:custGeom>
            <a:blipFill>
              <a:blip r:embed="rId6"/>
              <a:stretch>
                <a:fillRect l="-83579" r="-33941"/>
              </a:stretch>
            </a:blipFill>
            <a:ln cap="sq">
              <a:noFill/>
              <a:prstDash val="solid"/>
              <a:miter/>
            </a:ln>
          </p:spPr>
          <p:txBody>
            <a:bodyPr/>
            <a:lstStyle/>
            <a:p>
              <a:endParaRPr lang="en-GB"/>
            </a:p>
          </p:txBody>
        </p:sp>
      </p:grpSp>
      <p:sp>
        <p:nvSpPr>
          <p:cNvPr id="8" name="Content Placeholder 2">
            <a:extLst>
              <a:ext uri="{FF2B5EF4-FFF2-40B4-BE49-F238E27FC236}">
                <a16:creationId xmlns:a16="http://schemas.microsoft.com/office/drawing/2014/main" id="{37D1695B-1A8A-6B2B-0DE7-2F45A654C7A3}"/>
              </a:ext>
            </a:extLst>
          </p:cNvPr>
          <p:cNvSpPr txBox="1">
            <a:spLocks/>
          </p:cNvSpPr>
          <p:nvPr/>
        </p:nvSpPr>
        <p:spPr>
          <a:xfrm>
            <a:off x="5680364" y="3378135"/>
            <a:ext cx="5709863" cy="1391646"/>
          </a:xfrm>
          <a:prstGeom prst="rect">
            <a:avLst/>
          </a:prstGeom>
        </p:spPr>
        <p:txBody>
          <a:bodyPr anchor="t">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ts val="3084"/>
              </a:lnSpc>
              <a:spcBef>
                <a:spcPct val="0"/>
              </a:spcBef>
            </a:pPr>
            <a:r>
              <a:rPr lang="en-US" b="1" dirty="0">
                <a:solidFill>
                  <a:srgbClr val="000000"/>
                </a:solidFill>
                <a:latin typeface="Calibri (MS) Bold"/>
                <a:ea typeface="Calibri (MS) Bold"/>
                <a:cs typeface="Calibri (MS) Bold"/>
                <a:sym typeface="Calibri (MS) Bold"/>
              </a:rPr>
              <a:t>Choose visuals that answer those questions at a glance.</a:t>
            </a:r>
          </a:p>
          <a:p>
            <a:pPr>
              <a:lnSpc>
                <a:spcPts val="3084"/>
              </a:lnSpc>
              <a:spcBef>
                <a:spcPct val="0"/>
              </a:spcBef>
            </a:pPr>
            <a:endParaRPr lang="en-US" b="1" dirty="0">
              <a:solidFill>
                <a:srgbClr val="000000"/>
              </a:solidFill>
              <a:latin typeface="Calibri (MS) Bold"/>
              <a:ea typeface="Calibri (MS) Bold"/>
              <a:cs typeface="Calibri (MS) Bold"/>
              <a:sym typeface="Calibri (MS) Bold"/>
            </a:endParaRPr>
          </a:p>
          <a:p>
            <a:pPr>
              <a:lnSpc>
                <a:spcPts val="3084"/>
              </a:lnSpc>
              <a:spcBef>
                <a:spcPct val="0"/>
              </a:spcBef>
            </a:pPr>
            <a:r>
              <a:rPr lang="en-US" b="1" dirty="0">
                <a:solidFill>
                  <a:srgbClr val="000000"/>
                </a:solidFill>
                <a:latin typeface="Calibri (MS) Bold"/>
                <a:ea typeface="Calibri (MS) Bold"/>
                <a:cs typeface="Calibri (MS) Bold"/>
                <a:sym typeface="Calibri (MS) Bold"/>
              </a:rPr>
              <a:t>Group visuals into logical sections</a:t>
            </a:r>
            <a:r>
              <a:rPr lang="en-US" dirty="0">
                <a:solidFill>
                  <a:srgbClr val="000000"/>
                </a:solidFill>
                <a:latin typeface="Calibri (MS)"/>
                <a:ea typeface="Calibri (MS)"/>
                <a:cs typeface="Calibri (MS)"/>
                <a:sym typeface="Calibri (MS)"/>
              </a:rPr>
              <a:t> (e.g., KPIs, timelines, tenant details)</a:t>
            </a:r>
          </a:p>
          <a:p>
            <a:pPr>
              <a:lnSpc>
                <a:spcPts val="3084"/>
              </a:lnSpc>
              <a:spcBef>
                <a:spcPct val="0"/>
              </a:spcBef>
            </a:pPr>
            <a:endParaRPr lang="en-US" b="1" dirty="0">
              <a:solidFill>
                <a:srgbClr val="000000"/>
              </a:solidFill>
              <a:latin typeface="Calibri (MS) Bold"/>
              <a:ea typeface="Calibri (MS) Bold"/>
              <a:cs typeface="Calibri (MS) Bold"/>
              <a:sym typeface="Calibri (MS) Bold"/>
            </a:endParaRPr>
          </a:p>
        </p:txBody>
      </p:sp>
      <p:grpSp>
        <p:nvGrpSpPr>
          <p:cNvPr id="6" name="Group 10">
            <a:extLst>
              <a:ext uri="{FF2B5EF4-FFF2-40B4-BE49-F238E27FC236}">
                <a16:creationId xmlns:a16="http://schemas.microsoft.com/office/drawing/2014/main" id="{3F1E702A-2B42-7D0F-BD8E-35BE274BE56C}"/>
              </a:ext>
            </a:extLst>
          </p:cNvPr>
          <p:cNvGrpSpPr/>
          <p:nvPr/>
        </p:nvGrpSpPr>
        <p:grpSpPr>
          <a:xfrm>
            <a:off x="6003450" y="1904997"/>
            <a:ext cx="185100" cy="171588"/>
            <a:chOff x="0" y="0"/>
            <a:chExt cx="812800" cy="812800"/>
          </a:xfrm>
        </p:grpSpPr>
        <p:sp>
          <p:nvSpPr>
            <p:cNvPr id="9" name="Freeform 11">
              <a:extLst>
                <a:ext uri="{FF2B5EF4-FFF2-40B4-BE49-F238E27FC236}">
                  <a16:creationId xmlns:a16="http://schemas.microsoft.com/office/drawing/2014/main" id="{66123062-5F67-8B14-653B-17040FF03A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2B2868"/>
              </a:solidFill>
              <a:prstDash val="solid"/>
              <a:miter/>
            </a:ln>
          </p:spPr>
          <p:txBody>
            <a:bodyPr/>
            <a:lstStyle/>
            <a:p>
              <a:endParaRPr lang="en-GB"/>
            </a:p>
          </p:txBody>
        </p:sp>
        <p:sp>
          <p:nvSpPr>
            <p:cNvPr id="10" name="TextBox 12">
              <a:extLst>
                <a:ext uri="{FF2B5EF4-FFF2-40B4-BE49-F238E27FC236}">
                  <a16:creationId xmlns:a16="http://schemas.microsoft.com/office/drawing/2014/main" id="{138B9C91-5127-114D-71C1-C947C3C9FF8D}"/>
                </a:ext>
              </a:extLst>
            </p:cNvPr>
            <p:cNvSpPr txBox="1"/>
            <p:nvPr/>
          </p:nvSpPr>
          <p:spPr>
            <a:xfrm>
              <a:off x="76200" y="-9525"/>
              <a:ext cx="660400" cy="746125"/>
            </a:xfrm>
            <a:prstGeom prst="rect">
              <a:avLst/>
            </a:prstGeom>
          </p:spPr>
          <p:txBody>
            <a:bodyPr lIns="50800" tIns="50800" rIns="50800" bIns="50800" rtlCol="0" anchor="ctr"/>
            <a:lstStyle/>
            <a:p>
              <a:pPr algn="ctr">
                <a:lnSpc>
                  <a:spcPts val="3084"/>
                </a:lnSpc>
              </a:pPr>
              <a:endParaRPr/>
            </a:p>
          </p:txBody>
        </p:sp>
      </p:grpSp>
      <p:grpSp>
        <p:nvGrpSpPr>
          <p:cNvPr id="15" name="Group 14">
            <a:extLst>
              <a:ext uri="{FF2B5EF4-FFF2-40B4-BE49-F238E27FC236}">
                <a16:creationId xmlns:a16="http://schemas.microsoft.com/office/drawing/2014/main" id="{1E640418-B0A4-AF55-72E4-0223D285FE1C}"/>
              </a:ext>
            </a:extLst>
          </p:cNvPr>
          <p:cNvGrpSpPr/>
          <p:nvPr/>
        </p:nvGrpSpPr>
        <p:grpSpPr>
          <a:xfrm>
            <a:off x="6003450" y="2272901"/>
            <a:ext cx="185100" cy="171588"/>
            <a:chOff x="0" y="0"/>
            <a:chExt cx="812800" cy="812800"/>
          </a:xfrm>
        </p:grpSpPr>
        <p:sp>
          <p:nvSpPr>
            <p:cNvPr id="16" name="Freeform 11">
              <a:extLst>
                <a:ext uri="{FF2B5EF4-FFF2-40B4-BE49-F238E27FC236}">
                  <a16:creationId xmlns:a16="http://schemas.microsoft.com/office/drawing/2014/main" id="{B47B6A2F-3660-C2E6-83B0-20530A3585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2B2868"/>
              </a:solidFill>
              <a:prstDash val="solid"/>
              <a:miter/>
            </a:ln>
          </p:spPr>
          <p:txBody>
            <a:bodyPr/>
            <a:lstStyle/>
            <a:p>
              <a:endParaRPr lang="en-GB"/>
            </a:p>
          </p:txBody>
        </p:sp>
        <p:sp>
          <p:nvSpPr>
            <p:cNvPr id="17" name="TextBox 16">
              <a:extLst>
                <a:ext uri="{FF2B5EF4-FFF2-40B4-BE49-F238E27FC236}">
                  <a16:creationId xmlns:a16="http://schemas.microsoft.com/office/drawing/2014/main" id="{2947434D-13F9-4EED-27EE-21826137CEAC}"/>
                </a:ext>
              </a:extLst>
            </p:cNvPr>
            <p:cNvSpPr txBox="1"/>
            <p:nvPr/>
          </p:nvSpPr>
          <p:spPr>
            <a:xfrm>
              <a:off x="76200" y="-9525"/>
              <a:ext cx="660400" cy="746125"/>
            </a:xfrm>
            <a:prstGeom prst="rect">
              <a:avLst/>
            </a:prstGeom>
          </p:spPr>
          <p:txBody>
            <a:bodyPr lIns="50800" tIns="50800" rIns="50800" bIns="50800" rtlCol="0" anchor="ctr"/>
            <a:lstStyle/>
            <a:p>
              <a:pPr algn="ctr">
                <a:lnSpc>
                  <a:spcPts val="3084"/>
                </a:lnSpc>
              </a:pPr>
              <a:endParaRPr/>
            </a:p>
          </p:txBody>
        </p:sp>
      </p:grpSp>
      <p:grpSp>
        <p:nvGrpSpPr>
          <p:cNvPr id="18" name="Group 17">
            <a:extLst>
              <a:ext uri="{FF2B5EF4-FFF2-40B4-BE49-F238E27FC236}">
                <a16:creationId xmlns:a16="http://schemas.microsoft.com/office/drawing/2014/main" id="{CB016BD7-E475-512A-CAE7-242683381703}"/>
              </a:ext>
            </a:extLst>
          </p:cNvPr>
          <p:cNvGrpSpPr/>
          <p:nvPr/>
        </p:nvGrpSpPr>
        <p:grpSpPr>
          <a:xfrm>
            <a:off x="6003450" y="2660938"/>
            <a:ext cx="185100" cy="171588"/>
            <a:chOff x="0" y="0"/>
            <a:chExt cx="812800" cy="812800"/>
          </a:xfrm>
        </p:grpSpPr>
        <p:sp>
          <p:nvSpPr>
            <p:cNvPr id="19" name="Freeform 11">
              <a:extLst>
                <a:ext uri="{FF2B5EF4-FFF2-40B4-BE49-F238E27FC236}">
                  <a16:creationId xmlns:a16="http://schemas.microsoft.com/office/drawing/2014/main" id="{CF3DEB47-1BFF-C658-5EEF-1E12162AEB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2B2868"/>
              </a:solidFill>
              <a:prstDash val="solid"/>
              <a:miter/>
            </a:ln>
          </p:spPr>
          <p:txBody>
            <a:bodyPr/>
            <a:lstStyle/>
            <a:p>
              <a:endParaRPr lang="en-GB"/>
            </a:p>
          </p:txBody>
        </p:sp>
        <p:sp>
          <p:nvSpPr>
            <p:cNvPr id="20" name="TextBox 19">
              <a:extLst>
                <a:ext uri="{FF2B5EF4-FFF2-40B4-BE49-F238E27FC236}">
                  <a16:creationId xmlns:a16="http://schemas.microsoft.com/office/drawing/2014/main" id="{49D7FC09-D989-C94B-3533-45F41E4BCCF2}"/>
                </a:ext>
              </a:extLst>
            </p:cNvPr>
            <p:cNvSpPr txBox="1"/>
            <p:nvPr/>
          </p:nvSpPr>
          <p:spPr>
            <a:xfrm>
              <a:off x="76200" y="-9525"/>
              <a:ext cx="660400" cy="746125"/>
            </a:xfrm>
            <a:prstGeom prst="rect">
              <a:avLst/>
            </a:prstGeom>
          </p:spPr>
          <p:txBody>
            <a:bodyPr lIns="50800" tIns="50800" rIns="50800" bIns="50800" rtlCol="0" anchor="ctr"/>
            <a:lstStyle/>
            <a:p>
              <a:pPr algn="ctr">
                <a:lnSpc>
                  <a:spcPts val="3084"/>
                </a:lnSpc>
              </a:pPr>
              <a:endParaRPr/>
            </a:p>
          </p:txBody>
        </p:sp>
      </p:grpSp>
    </p:spTree>
    <p:extLst>
      <p:ext uri="{BB962C8B-B14F-4D97-AF65-F5344CB8AC3E}">
        <p14:creationId xmlns:p14="http://schemas.microsoft.com/office/powerpoint/2010/main" val="618997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31FE-FC79-3E96-A086-91A000B24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A3115-3CF9-512B-C5C0-49EC84496731}"/>
              </a:ext>
            </a:extLst>
          </p:cNvPr>
          <p:cNvSpPr>
            <a:spLocks noGrp="1"/>
          </p:cNvSpPr>
          <p:nvPr>
            <p:ph type="title"/>
          </p:nvPr>
        </p:nvSpPr>
        <p:spPr>
          <a:xfrm>
            <a:off x="412290" y="304126"/>
            <a:ext cx="10515600" cy="418068"/>
          </a:xfrm>
        </p:spPr>
        <p:txBody>
          <a:bodyPr/>
          <a:lstStyle/>
          <a:p>
            <a:r>
              <a:rPr lang="en-GB" sz="2800" spc="3" dirty="0"/>
              <a:t>Building Visual KPIs</a:t>
            </a:r>
          </a:p>
        </p:txBody>
      </p:sp>
      <p:sp>
        <p:nvSpPr>
          <p:cNvPr id="17" name="Content Placeholder 2">
            <a:extLst>
              <a:ext uri="{FF2B5EF4-FFF2-40B4-BE49-F238E27FC236}">
                <a16:creationId xmlns:a16="http://schemas.microsoft.com/office/drawing/2014/main" id="{959B58BB-D74F-A190-7739-A79A1EA7DB3B}"/>
              </a:ext>
            </a:extLst>
          </p:cNvPr>
          <p:cNvSpPr txBox="1">
            <a:spLocks/>
          </p:cNvSpPr>
          <p:nvPr/>
        </p:nvSpPr>
        <p:spPr>
          <a:xfrm>
            <a:off x="522709" y="1266880"/>
            <a:ext cx="5647989"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Place key metrics at the top of the dashboard</a:t>
            </a:r>
          </a:p>
          <a:p>
            <a:endParaRPr lang="en-GB" sz="2000" dirty="0"/>
          </a:p>
          <a:p>
            <a:r>
              <a:rPr lang="en-GB" sz="2000" dirty="0"/>
              <a:t>Focus on Occupancy, Rent Roll, </a:t>
            </a:r>
            <a:r>
              <a:rPr lang="en-GB" sz="2000" dirty="0" err="1"/>
              <a:t>Avg</a:t>
            </a:r>
            <a:r>
              <a:rPr lang="en-GB" sz="2000" dirty="0"/>
              <a:t> Rent PSF</a:t>
            </a:r>
          </a:p>
          <a:p>
            <a:endParaRPr lang="en-GB" sz="2000" dirty="0"/>
          </a:p>
          <a:p>
            <a:r>
              <a:rPr lang="en-GB" sz="2000" dirty="0"/>
              <a:t>Use large, clean visuals that are easy to monitor</a:t>
            </a:r>
          </a:p>
          <a:p>
            <a:endParaRPr lang="en-GB" sz="2000" dirty="0"/>
          </a:p>
          <a:p>
            <a:r>
              <a:rPr lang="en-GB" sz="2000" dirty="0"/>
              <a:t>Keep formatting simple and consistent</a:t>
            </a:r>
          </a:p>
        </p:txBody>
      </p:sp>
      <p:sp>
        <p:nvSpPr>
          <p:cNvPr id="21" name="Oval 20">
            <a:extLst>
              <a:ext uri="{FF2B5EF4-FFF2-40B4-BE49-F238E27FC236}">
                <a16:creationId xmlns:a16="http://schemas.microsoft.com/office/drawing/2014/main" id="{C4684C18-17D9-9633-46E9-A4456A0B6D91}"/>
              </a:ext>
            </a:extLst>
          </p:cNvPr>
          <p:cNvSpPr/>
          <p:nvPr/>
        </p:nvSpPr>
        <p:spPr>
          <a:xfrm flipH="1">
            <a:off x="522709" y="1350001"/>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
            <a:extLst>
              <a:ext uri="{FF2B5EF4-FFF2-40B4-BE49-F238E27FC236}">
                <a16:creationId xmlns:a16="http://schemas.microsoft.com/office/drawing/2014/main" id="{378808DF-8DE4-2C81-609F-DB24CEBD2BA6}"/>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3" name="Oval 2">
            <a:extLst>
              <a:ext uri="{FF2B5EF4-FFF2-40B4-BE49-F238E27FC236}">
                <a16:creationId xmlns:a16="http://schemas.microsoft.com/office/drawing/2014/main" id="{762C036F-E9C3-7503-4CFD-143E95C88EAB}"/>
              </a:ext>
            </a:extLst>
          </p:cNvPr>
          <p:cNvSpPr/>
          <p:nvPr/>
        </p:nvSpPr>
        <p:spPr>
          <a:xfrm flipH="1">
            <a:off x="522709" y="3752442"/>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EE5180D2-1128-9BF0-85EC-AE98233FF79C}"/>
              </a:ext>
            </a:extLst>
          </p:cNvPr>
          <p:cNvSpPr/>
          <p:nvPr/>
        </p:nvSpPr>
        <p:spPr>
          <a:xfrm flipH="1">
            <a:off x="522709" y="2195558"/>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5650881B-A9DF-B174-A5D6-60A660441DC1}"/>
              </a:ext>
            </a:extLst>
          </p:cNvPr>
          <p:cNvSpPr/>
          <p:nvPr/>
        </p:nvSpPr>
        <p:spPr>
          <a:xfrm flipH="1">
            <a:off x="522709" y="2974000"/>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4">
            <a:extLst>
              <a:ext uri="{FF2B5EF4-FFF2-40B4-BE49-F238E27FC236}">
                <a16:creationId xmlns:a16="http://schemas.microsoft.com/office/drawing/2014/main" id="{B4BA29C1-6267-95F1-F11E-A1C3BAFB7BD2}"/>
              </a:ext>
            </a:extLst>
          </p:cNvPr>
          <p:cNvGrpSpPr/>
          <p:nvPr/>
        </p:nvGrpSpPr>
        <p:grpSpPr>
          <a:xfrm>
            <a:off x="6883685" y="571396"/>
            <a:ext cx="4229528" cy="4979868"/>
            <a:chOff x="0" y="0"/>
            <a:chExt cx="914673" cy="1038826"/>
          </a:xfrm>
        </p:grpSpPr>
        <p:sp>
          <p:nvSpPr>
            <p:cNvPr id="10" name="Freeform 5">
              <a:extLst>
                <a:ext uri="{FF2B5EF4-FFF2-40B4-BE49-F238E27FC236}">
                  <a16:creationId xmlns:a16="http://schemas.microsoft.com/office/drawing/2014/main" id="{C7BA1E8C-B959-C289-5B57-4ACEE5B6F3DA}"/>
                </a:ext>
              </a:extLst>
            </p:cNvPr>
            <p:cNvSpPr/>
            <p:nvPr/>
          </p:nvSpPr>
          <p:spPr>
            <a:xfrm>
              <a:off x="0" y="0"/>
              <a:ext cx="914673" cy="1038826"/>
            </a:xfrm>
            <a:custGeom>
              <a:avLst/>
              <a:gdLst/>
              <a:ahLst/>
              <a:cxnLst/>
              <a:rect l="l" t="t" r="r" b="b"/>
              <a:pathLst>
                <a:path w="914673" h="1038826">
                  <a:moveTo>
                    <a:pt x="24200" y="0"/>
                  </a:moveTo>
                  <a:lnTo>
                    <a:pt x="890473" y="0"/>
                  </a:lnTo>
                  <a:cubicBezTo>
                    <a:pt x="896891" y="0"/>
                    <a:pt x="903047" y="2550"/>
                    <a:pt x="907585" y="7088"/>
                  </a:cubicBezTo>
                  <a:cubicBezTo>
                    <a:pt x="912124" y="11627"/>
                    <a:pt x="914673" y="17782"/>
                    <a:pt x="914673" y="24200"/>
                  </a:cubicBezTo>
                  <a:lnTo>
                    <a:pt x="914673" y="1014626"/>
                  </a:lnTo>
                  <a:cubicBezTo>
                    <a:pt x="914673" y="1021044"/>
                    <a:pt x="912124" y="1027199"/>
                    <a:pt x="907585" y="1031738"/>
                  </a:cubicBezTo>
                  <a:cubicBezTo>
                    <a:pt x="903047" y="1036276"/>
                    <a:pt x="896891" y="1038826"/>
                    <a:pt x="890473" y="1038826"/>
                  </a:cubicBezTo>
                  <a:lnTo>
                    <a:pt x="24200" y="1038826"/>
                  </a:lnTo>
                  <a:cubicBezTo>
                    <a:pt x="17782" y="1038826"/>
                    <a:pt x="11627" y="1036276"/>
                    <a:pt x="7088" y="1031738"/>
                  </a:cubicBezTo>
                  <a:cubicBezTo>
                    <a:pt x="2550" y="1027199"/>
                    <a:pt x="0" y="1021044"/>
                    <a:pt x="0" y="1014626"/>
                  </a:cubicBezTo>
                  <a:lnTo>
                    <a:pt x="0" y="24200"/>
                  </a:lnTo>
                  <a:cubicBezTo>
                    <a:pt x="0" y="17782"/>
                    <a:pt x="2550" y="11627"/>
                    <a:pt x="7088" y="7088"/>
                  </a:cubicBezTo>
                  <a:cubicBezTo>
                    <a:pt x="11627" y="2550"/>
                    <a:pt x="17782" y="0"/>
                    <a:pt x="24200" y="0"/>
                  </a:cubicBezTo>
                  <a:close/>
                </a:path>
              </a:pathLst>
            </a:custGeom>
            <a:blipFill>
              <a:blip r:embed="rId3"/>
              <a:stretch>
                <a:fillRect l="-54047" r="-47860"/>
              </a:stretch>
            </a:blipFill>
            <a:ln cap="sq">
              <a:noFill/>
              <a:prstDash val="solid"/>
              <a:miter/>
            </a:ln>
          </p:spPr>
          <p:txBody>
            <a:bodyPr/>
            <a:lstStyle/>
            <a:p>
              <a:endParaRPr lang="en-GB"/>
            </a:p>
          </p:txBody>
        </p:sp>
      </p:grpSp>
    </p:spTree>
    <p:extLst>
      <p:ext uri="{BB962C8B-B14F-4D97-AF65-F5344CB8AC3E}">
        <p14:creationId xmlns:p14="http://schemas.microsoft.com/office/powerpoint/2010/main" val="75925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E412-6784-CE92-605B-1775CA543DC3}"/>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E5B396E-28D6-2A8F-045A-0D30914DCBF3}"/>
              </a:ext>
            </a:extLst>
          </p:cNvPr>
          <p:cNvSpPr>
            <a:spLocks noGrp="1"/>
          </p:cNvSpPr>
          <p:nvPr>
            <p:ph type="title"/>
          </p:nvPr>
        </p:nvSpPr>
        <p:spPr>
          <a:xfrm>
            <a:off x="422564" y="358310"/>
            <a:ext cx="10515600" cy="418068"/>
          </a:xfrm>
        </p:spPr>
        <p:txBody>
          <a:bodyPr/>
          <a:lstStyle/>
          <a:p>
            <a:r>
              <a:rPr lang="en-GB" sz="2800" dirty="0"/>
              <a:t>Interactive Slicers</a:t>
            </a:r>
          </a:p>
        </p:txBody>
      </p:sp>
      <p:sp>
        <p:nvSpPr>
          <p:cNvPr id="4" name="AutoShape 2">
            <a:extLst>
              <a:ext uri="{FF2B5EF4-FFF2-40B4-BE49-F238E27FC236}">
                <a16:creationId xmlns:a16="http://schemas.microsoft.com/office/drawing/2014/main" id="{E190C689-C195-C204-93D7-55AD553D04A9}"/>
              </a:ext>
            </a:extLst>
          </p:cNvPr>
          <p:cNvSpPr>
            <a:spLocks noChangeAspect="1" noChangeArrowheads="1"/>
          </p:cNvSpPr>
          <p:nvPr/>
        </p:nvSpPr>
        <p:spPr bwMode="auto">
          <a:xfrm>
            <a:off x="5228301" y="2485612"/>
            <a:ext cx="1854485" cy="18544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 name="Text Placeholder 2">
            <a:extLst>
              <a:ext uri="{FF2B5EF4-FFF2-40B4-BE49-F238E27FC236}">
                <a16:creationId xmlns:a16="http://schemas.microsoft.com/office/drawing/2014/main" id="{8A4F6F88-3590-4E37-7788-8FDA5937D0E6}"/>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3" name="Content Placeholder 2">
            <a:extLst>
              <a:ext uri="{FF2B5EF4-FFF2-40B4-BE49-F238E27FC236}">
                <a16:creationId xmlns:a16="http://schemas.microsoft.com/office/drawing/2014/main" id="{E6F7578F-F93F-61F3-F0BB-4BE1EC29CA0E}"/>
              </a:ext>
            </a:extLst>
          </p:cNvPr>
          <p:cNvSpPr txBox="1">
            <a:spLocks/>
          </p:cNvSpPr>
          <p:nvPr/>
        </p:nvSpPr>
        <p:spPr>
          <a:xfrm>
            <a:off x="5228301" y="1694146"/>
            <a:ext cx="5709863" cy="1391646"/>
          </a:xfrm>
          <a:prstGeom prst="rect">
            <a:avLst/>
          </a:prstGeom>
        </p:spPr>
        <p:txBody>
          <a:bodyPr anchor="t">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nSpc>
                <a:spcPct val="150000"/>
              </a:lnSpc>
              <a:buFont typeface="Arial" panose="020B0604020202020204" pitchFamily="34" charset="0"/>
              <a:buChar char="•"/>
            </a:pPr>
            <a:r>
              <a:rPr lang="en-GB" sz="2000" dirty="0"/>
              <a:t>Add a </a:t>
            </a:r>
            <a:r>
              <a:rPr lang="en-GB" sz="2000" b="1" dirty="0"/>
              <a:t>Fit Out </a:t>
            </a:r>
            <a:r>
              <a:rPr lang="en-GB" sz="2000" dirty="0"/>
              <a:t>(Cat A / Cat B) slicer for </a:t>
            </a:r>
            <a:r>
              <a:rPr lang="en-GB" sz="2000" b="1" dirty="0"/>
              <a:t>quick comparisons.</a:t>
            </a:r>
          </a:p>
          <a:p>
            <a:pPr marL="342900" indent="-342900">
              <a:lnSpc>
                <a:spcPct val="150000"/>
              </a:lnSpc>
              <a:buFont typeface="Arial" panose="020B0604020202020204" pitchFamily="34" charset="0"/>
              <a:buChar char="•"/>
            </a:pPr>
            <a:endParaRPr lang="en-GB" sz="2000" dirty="0"/>
          </a:p>
          <a:p>
            <a:pPr marL="342900" indent="-342900">
              <a:lnSpc>
                <a:spcPct val="150000"/>
              </a:lnSpc>
              <a:buFont typeface="Arial" panose="020B0604020202020204" pitchFamily="34" charset="0"/>
              <a:buChar char="•"/>
            </a:pPr>
            <a:r>
              <a:rPr lang="en-GB" sz="2000" dirty="0"/>
              <a:t>Style as </a:t>
            </a:r>
            <a:r>
              <a:rPr lang="en-GB" sz="2000" b="1" dirty="0"/>
              <a:t>Tile view </a:t>
            </a:r>
            <a:r>
              <a:rPr lang="en-GB" sz="2000" dirty="0"/>
              <a:t>with larger font for </a:t>
            </a:r>
            <a:r>
              <a:rPr lang="en-GB" sz="2000" b="1" dirty="0"/>
              <a:t>usability</a:t>
            </a:r>
          </a:p>
          <a:p>
            <a:pPr marL="342900" indent="-342900">
              <a:lnSpc>
                <a:spcPct val="150000"/>
              </a:lnSpc>
              <a:buFont typeface="Arial" panose="020B0604020202020204" pitchFamily="34" charset="0"/>
              <a:buChar char="•"/>
            </a:pPr>
            <a:endParaRPr lang="en-GB" sz="2000" dirty="0"/>
          </a:p>
        </p:txBody>
      </p:sp>
      <p:grpSp>
        <p:nvGrpSpPr>
          <p:cNvPr id="5" name="Group 3">
            <a:extLst>
              <a:ext uri="{FF2B5EF4-FFF2-40B4-BE49-F238E27FC236}">
                <a16:creationId xmlns:a16="http://schemas.microsoft.com/office/drawing/2014/main" id="{F52B2774-0F99-9DF1-1B51-5C9D06B169AE}"/>
              </a:ext>
            </a:extLst>
          </p:cNvPr>
          <p:cNvGrpSpPr/>
          <p:nvPr/>
        </p:nvGrpSpPr>
        <p:grpSpPr>
          <a:xfrm>
            <a:off x="483855" y="934948"/>
            <a:ext cx="3961753" cy="4765149"/>
            <a:chOff x="0" y="0"/>
            <a:chExt cx="959425" cy="1045413"/>
          </a:xfrm>
        </p:grpSpPr>
        <p:sp>
          <p:nvSpPr>
            <p:cNvPr id="6" name="Freeform 4">
              <a:extLst>
                <a:ext uri="{FF2B5EF4-FFF2-40B4-BE49-F238E27FC236}">
                  <a16:creationId xmlns:a16="http://schemas.microsoft.com/office/drawing/2014/main" id="{C7762332-737B-BA38-85B3-061D47A45D33}"/>
                </a:ext>
              </a:extLst>
            </p:cNvPr>
            <p:cNvSpPr/>
            <p:nvPr/>
          </p:nvSpPr>
          <p:spPr>
            <a:xfrm>
              <a:off x="0" y="0"/>
              <a:ext cx="959425" cy="1045413"/>
            </a:xfrm>
            <a:custGeom>
              <a:avLst/>
              <a:gdLst/>
              <a:ahLst/>
              <a:cxnLst/>
              <a:rect l="l" t="t" r="r" b="b"/>
              <a:pathLst>
                <a:path w="959425" h="1045413">
                  <a:moveTo>
                    <a:pt x="25536" y="0"/>
                  </a:moveTo>
                  <a:lnTo>
                    <a:pt x="933889" y="0"/>
                  </a:lnTo>
                  <a:cubicBezTo>
                    <a:pt x="940662" y="0"/>
                    <a:pt x="947157" y="2690"/>
                    <a:pt x="951946" y="7479"/>
                  </a:cubicBezTo>
                  <a:cubicBezTo>
                    <a:pt x="956735" y="12268"/>
                    <a:pt x="959425" y="18763"/>
                    <a:pt x="959425" y="25536"/>
                  </a:cubicBezTo>
                  <a:lnTo>
                    <a:pt x="959425" y="1019878"/>
                  </a:lnTo>
                  <a:cubicBezTo>
                    <a:pt x="959425" y="1033981"/>
                    <a:pt x="947992" y="1045413"/>
                    <a:pt x="933889" y="1045413"/>
                  </a:cubicBezTo>
                  <a:lnTo>
                    <a:pt x="25536" y="1045413"/>
                  </a:lnTo>
                  <a:cubicBezTo>
                    <a:pt x="18763" y="1045413"/>
                    <a:pt x="12268" y="1042723"/>
                    <a:pt x="7479" y="1037934"/>
                  </a:cubicBezTo>
                  <a:cubicBezTo>
                    <a:pt x="2690" y="1033145"/>
                    <a:pt x="0" y="1026650"/>
                    <a:pt x="0" y="1019878"/>
                  </a:cubicBezTo>
                  <a:lnTo>
                    <a:pt x="0" y="25536"/>
                  </a:lnTo>
                  <a:cubicBezTo>
                    <a:pt x="0" y="18763"/>
                    <a:pt x="2690" y="12268"/>
                    <a:pt x="7479" y="7479"/>
                  </a:cubicBezTo>
                  <a:cubicBezTo>
                    <a:pt x="12268" y="2690"/>
                    <a:pt x="18763" y="0"/>
                    <a:pt x="25536" y="0"/>
                  </a:cubicBezTo>
                  <a:close/>
                </a:path>
              </a:pathLst>
            </a:custGeom>
            <a:blipFill>
              <a:blip r:embed="rId3"/>
              <a:stretch>
                <a:fillRect l="-48386" r="-48386"/>
              </a:stretch>
            </a:blipFill>
            <a:ln cap="sq">
              <a:noFill/>
              <a:prstDash val="solid"/>
              <a:miter/>
            </a:ln>
          </p:spPr>
          <p:txBody>
            <a:bodyPr/>
            <a:lstStyle/>
            <a:p>
              <a:endParaRPr lang="en-GB"/>
            </a:p>
          </p:txBody>
        </p:sp>
      </p:grpSp>
      <p:grpSp>
        <p:nvGrpSpPr>
          <p:cNvPr id="16" name="Group 7">
            <a:extLst>
              <a:ext uri="{FF2B5EF4-FFF2-40B4-BE49-F238E27FC236}">
                <a16:creationId xmlns:a16="http://schemas.microsoft.com/office/drawing/2014/main" id="{8B08260D-1A6E-D4C4-B538-2667D0FD14BE}"/>
              </a:ext>
            </a:extLst>
          </p:cNvPr>
          <p:cNvGrpSpPr/>
          <p:nvPr/>
        </p:nvGrpSpPr>
        <p:grpSpPr>
          <a:xfrm>
            <a:off x="4909862" y="1654140"/>
            <a:ext cx="769705" cy="629748"/>
            <a:chOff x="-142649" y="-9525"/>
            <a:chExt cx="879249" cy="784225"/>
          </a:xfrm>
        </p:grpSpPr>
        <p:sp>
          <p:nvSpPr>
            <p:cNvPr id="17" name="Freeform 8">
              <a:extLst>
                <a:ext uri="{FF2B5EF4-FFF2-40B4-BE49-F238E27FC236}">
                  <a16:creationId xmlns:a16="http://schemas.microsoft.com/office/drawing/2014/main" id="{FE671EF9-F55A-29F5-D67D-71F6D776CD3C}"/>
                </a:ext>
              </a:extLst>
            </p:cNvPr>
            <p:cNvSpPr/>
            <p:nvPr/>
          </p:nvSpPr>
          <p:spPr>
            <a:xfrm flipH="1">
              <a:off x="-142649" y="57138"/>
              <a:ext cx="660402" cy="71756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868"/>
            </a:solidFill>
          </p:spPr>
          <p:txBody>
            <a:bodyPr/>
            <a:lstStyle/>
            <a:p>
              <a:endParaRPr lang="en-GB"/>
            </a:p>
          </p:txBody>
        </p:sp>
        <p:sp>
          <p:nvSpPr>
            <p:cNvPr id="18" name="TextBox 9">
              <a:extLst>
                <a:ext uri="{FF2B5EF4-FFF2-40B4-BE49-F238E27FC236}">
                  <a16:creationId xmlns:a16="http://schemas.microsoft.com/office/drawing/2014/main" id="{569905F1-4026-6534-7184-DBF1FA7897F1}"/>
                </a:ext>
              </a:extLst>
            </p:cNvPr>
            <p:cNvSpPr txBox="1"/>
            <p:nvPr/>
          </p:nvSpPr>
          <p:spPr>
            <a:xfrm>
              <a:off x="76200" y="-9525"/>
              <a:ext cx="660400" cy="746125"/>
            </a:xfrm>
            <a:prstGeom prst="rect">
              <a:avLst/>
            </a:prstGeom>
          </p:spPr>
          <p:txBody>
            <a:bodyPr lIns="50800" tIns="50800" rIns="50800" bIns="50800" rtlCol="0" anchor="ctr"/>
            <a:lstStyle/>
            <a:p>
              <a:pPr algn="ctr">
                <a:lnSpc>
                  <a:spcPts val="3084"/>
                </a:lnSpc>
              </a:pPr>
              <a:endParaRPr/>
            </a:p>
          </p:txBody>
        </p:sp>
      </p:grpSp>
      <p:sp>
        <p:nvSpPr>
          <p:cNvPr id="19" name="Freeform 10">
            <a:extLst>
              <a:ext uri="{FF2B5EF4-FFF2-40B4-BE49-F238E27FC236}">
                <a16:creationId xmlns:a16="http://schemas.microsoft.com/office/drawing/2014/main" id="{F6B529BE-7E09-384E-D8B8-A4BF631A297A}"/>
              </a:ext>
            </a:extLst>
          </p:cNvPr>
          <p:cNvSpPr/>
          <p:nvPr/>
        </p:nvSpPr>
        <p:spPr>
          <a:xfrm>
            <a:off x="5034639" y="1820611"/>
            <a:ext cx="338200" cy="326687"/>
          </a:xfrm>
          <a:custGeom>
            <a:avLst/>
            <a:gdLst/>
            <a:ahLst/>
            <a:cxnLst/>
            <a:rect l="l" t="t" r="r" b="b"/>
            <a:pathLst>
              <a:path w="423052" h="480740">
                <a:moveTo>
                  <a:pt x="0" y="0"/>
                </a:moveTo>
                <a:lnTo>
                  <a:pt x="423051" y="0"/>
                </a:lnTo>
                <a:lnTo>
                  <a:pt x="423051" y="480741"/>
                </a:lnTo>
                <a:lnTo>
                  <a:pt x="0" y="4807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dirty="0"/>
          </a:p>
        </p:txBody>
      </p:sp>
      <p:grpSp>
        <p:nvGrpSpPr>
          <p:cNvPr id="27" name="Group 7">
            <a:extLst>
              <a:ext uri="{FF2B5EF4-FFF2-40B4-BE49-F238E27FC236}">
                <a16:creationId xmlns:a16="http://schemas.microsoft.com/office/drawing/2014/main" id="{9C17A089-32C6-2E41-9E1C-59CA4825DF79}"/>
              </a:ext>
            </a:extLst>
          </p:cNvPr>
          <p:cNvGrpSpPr/>
          <p:nvPr/>
        </p:nvGrpSpPr>
        <p:grpSpPr>
          <a:xfrm>
            <a:off x="4909862" y="3034268"/>
            <a:ext cx="769705" cy="633090"/>
            <a:chOff x="-126929" y="-9525"/>
            <a:chExt cx="863529" cy="788387"/>
          </a:xfrm>
        </p:grpSpPr>
        <p:sp>
          <p:nvSpPr>
            <p:cNvPr id="28" name="Freeform 8">
              <a:extLst>
                <a:ext uri="{FF2B5EF4-FFF2-40B4-BE49-F238E27FC236}">
                  <a16:creationId xmlns:a16="http://schemas.microsoft.com/office/drawing/2014/main" id="{F1699478-16E8-B89D-3AB4-DCCF76F95FCE}"/>
                </a:ext>
              </a:extLst>
            </p:cNvPr>
            <p:cNvSpPr/>
            <p:nvPr/>
          </p:nvSpPr>
          <p:spPr>
            <a:xfrm flipH="1">
              <a:off x="-126929" y="61300"/>
              <a:ext cx="660402" cy="71756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868"/>
            </a:solidFill>
          </p:spPr>
          <p:txBody>
            <a:bodyPr/>
            <a:lstStyle/>
            <a:p>
              <a:endParaRPr lang="en-GB"/>
            </a:p>
          </p:txBody>
        </p:sp>
        <p:sp>
          <p:nvSpPr>
            <p:cNvPr id="29" name="TextBox 9">
              <a:extLst>
                <a:ext uri="{FF2B5EF4-FFF2-40B4-BE49-F238E27FC236}">
                  <a16:creationId xmlns:a16="http://schemas.microsoft.com/office/drawing/2014/main" id="{231D18DA-432E-C0C0-008E-075317C176FA}"/>
                </a:ext>
              </a:extLst>
            </p:cNvPr>
            <p:cNvSpPr txBox="1"/>
            <p:nvPr/>
          </p:nvSpPr>
          <p:spPr>
            <a:xfrm>
              <a:off x="76200" y="-9525"/>
              <a:ext cx="660400" cy="746125"/>
            </a:xfrm>
            <a:prstGeom prst="rect">
              <a:avLst/>
            </a:prstGeom>
          </p:spPr>
          <p:txBody>
            <a:bodyPr lIns="50800" tIns="50800" rIns="50800" bIns="50800" rtlCol="0" anchor="ctr"/>
            <a:lstStyle/>
            <a:p>
              <a:pPr algn="ctr">
                <a:lnSpc>
                  <a:spcPts val="3084"/>
                </a:lnSpc>
              </a:pPr>
              <a:endParaRPr/>
            </a:p>
          </p:txBody>
        </p:sp>
      </p:grpSp>
      <p:sp>
        <p:nvSpPr>
          <p:cNvPr id="26" name="Freeform 14">
            <a:extLst>
              <a:ext uri="{FF2B5EF4-FFF2-40B4-BE49-F238E27FC236}">
                <a16:creationId xmlns:a16="http://schemas.microsoft.com/office/drawing/2014/main" id="{60860DEF-4E69-8C1F-AEA2-B647A071E35D}"/>
              </a:ext>
            </a:extLst>
          </p:cNvPr>
          <p:cNvSpPr/>
          <p:nvPr/>
        </p:nvSpPr>
        <p:spPr>
          <a:xfrm>
            <a:off x="4996382" y="3181668"/>
            <a:ext cx="415607" cy="362380"/>
          </a:xfrm>
          <a:custGeom>
            <a:avLst/>
            <a:gdLst/>
            <a:ahLst/>
            <a:cxnLst/>
            <a:rect l="l" t="t" r="r" b="b"/>
            <a:pathLst>
              <a:path w="494690" h="430586">
                <a:moveTo>
                  <a:pt x="0" y="0"/>
                </a:moveTo>
                <a:lnTo>
                  <a:pt x="494689" y="0"/>
                </a:lnTo>
                <a:lnTo>
                  <a:pt x="494689" y="430586"/>
                </a:lnTo>
                <a:lnTo>
                  <a:pt x="0" y="43058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Tree>
    <p:extLst>
      <p:ext uri="{BB962C8B-B14F-4D97-AF65-F5344CB8AC3E}">
        <p14:creationId xmlns:p14="http://schemas.microsoft.com/office/powerpoint/2010/main" val="2388053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0AFB4-2CF3-C524-2AF8-F0A362456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73D10-A242-4919-C796-71A14483F596}"/>
              </a:ext>
            </a:extLst>
          </p:cNvPr>
          <p:cNvSpPr>
            <a:spLocks noGrp="1"/>
          </p:cNvSpPr>
          <p:nvPr>
            <p:ph type="title"/>
          </p:nvPr>
        </p:nvSpPr>
        <p:spPr>
          <a:xfrm>
            <a:off x="412290" y="304126"/>
            <a:ext cx="10515600" cy="418068"/>
          </a:xfrm>
        </p:spPr>
        <p:txBody>
          <a:bodyPr/>
          <a:lstStyle/>
          <a:p>
            <a:r>
              <a:rPr lang="en-GB" sz="2800" spc="3" dirty="0"/>
              <a:t>Gantt Chart for Lease Timelines</a:t>
            </a:r>
          </a:p>
        </p:txBody>
      </p:sp>
      <p:sp>
        <p:nvSpPr>
          <p:cNvPr id="17" name="Content Placeholder 2">
            <a:extLst>
              <a:ext uri="{FF2B5EF4-FFF2-40B4-BE49-F238E27FC236}">
                <a16:creationId xmlns:a16="http://schemas.microsoft.com/office/drawing/2014/main" id="{D77F6C55-C684-C349-CF3E-54C51D830F6F}"/>
              </a:ext>
            </a:extLst>
          </p:cNvPr>
          <p:cNvSpPr txBox="1">
            <a:spLocks/>
          </p:cNvSpPr>
          <p:nvPr/>
        </p:nvSpPr>
        <p:spPr>
          <a:xfrm>
            <a:off x="522709" y="1266880"/>
            <a:ext cx="5647989"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b="1" dirty="0"/>
              <a:t>Add</a:t>
            </a:r>
            <a:r>
              <a:rPr lang="en-GB" sz="2000" dirty="0"/>
              <a:t> the Microsoft Gantt Chart visual (from AppSource)</a:t>
            </a:r>
          </a:p>
          <a:p>
            <a:endParaRPr lang="en-GB" sz="2000" dirty="0"/>
          </a:p>
          <a:p>
            <a:r>
              <a:rPr lang="en-GB" sz="2000" b="1" dirty="0"/>
              <a:t>Aggregate</a:t>
            </a:r>
            <a:r>
              <a:rPr lang="en-GB" sz="2000" dirty="0"/>
              <a:t> by Year for clarity</a:t>
            </a:r>
          </a:p>
          <a:p>
            <a:endParaRPr lang="en-GB" sz="2000" dirty="0"/>
          </a:p>
          <a:p>
            <a:r>
              <a:rPr lang="en-GB" sz="2000" b="1" dirty="0"/>
              <a:t>Adjust </a:t>
            </a:r>
            <a:r>
              <a:rPr lang="en-GB" sz="2000" dirty="0"/>
              <a:t>label widths + fonts for readability</a:t>
            </a:r>
          </a:p>
          <a:p>
            <a:endParaRPr lang="en-GB" sz="2000" dirty="0"/>
          </a:p>
          <a:p>
            <a:r>
              <a:rPr lang="en-GB" sz="2000" b="1" dirty="0"/>
              <a:t>Use</a:t>
            </a:r>
            <a:r>
              <a:rPr lang="en-GB" sz="2000" dirty="0"/>
              <a:t> calculated columns (</a:t>
            </a:r>
            <a:r>
              <a:rPr lang="en-GB" sz="2000" dirty="0" err="1"/>
              <a:t>LeaseStart_Filled</a:t>
            </a:r>
            <a:r>
              <a:rPr lang="en-GB" sz="2000" dirty="0"/>
              <a:t>, </a:t>
            </a:r>
            <a:r>
              <a:rPr lang="en-GB" sz="2000" dirty="0" err="1"/>
              <a:t>LeaseExpiry_Filled</a:t>
            </a:r>
            <a:r>
              <a:rPr lang="en-GB" sz="2000" dirty="0"/>
              <a:t>) to display vacant units</a:t>
            </a:r>
          </a:p>
        </p:txBody>
      </p:sp>
      <p:sp>
        <p:nvSpPr>
          <p:cNvPr id="21" name="Oval 20">
            <a:extLst>
              <a:ext uri="{FF2B5EF4-FFF2-40B4-BE49-F238E27FC236}">
                <a16:creationId xmlns:a16="http://schemas.microsoft.com/office/drawing/2014/main" id="{72C91D70-CABC-EDE9-BAA6-C0E386C0F3F9}"/>
              </a:ext>
            </a:extLst>
          </p:cNvPr>
          <p:cNvSpPr/>
          <p:nvPr/>
        </p:nvSpPr>
        <p:spPr>
          <a:xfrm flipH="1">
            <a:off x="522709" y="1350001"/>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
            <a:extLst>
              <a:ext uri="{FF2B5EF4-FFF2-40B4-BE49-F238E27FC236}">
                <a16:creationId xmlns:a16="http://schemas.microsoft.com/office/drawing/2014/main" id="{5CD69AF9-2776-BCED-9248-24FC43CAA297}"/>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3" name="Oval 2">
            <a:extLst>
              <a:ext uri="{FF2B5EF4-FFF2-40B4-BE49-F238E27FC236}">
                <a16:creationId xmlns:a16="http://schemas.microsoft.com/office/drawing/2014/main" id="{6303FEB7-4045-0692-5B78-325F7DB5DD39}"/>
              </a:ext>
            </a:extLst>
          </p:cNvPr>
          <p:cNvSpPr/>
          <p:nvPr/>
        </p:nvSpPr>
        <p:spPr>
          <a:xfrm flipH="1">
            <a:off x="522709" y="4018257"/>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E9889598-C176-54F6-7F6A-3DA4719EEF75}"/>
              </a:ext>
            </a:extLst>
          </p:cNvPr>
          <p:cNvSpPr/>
          <p:nvPr/>
        </p:nvSpPr>
        <p:spPr>
          <a:xfrm flipH="1">
            <a:off x="522709" y="2440107"/>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66C0C26A-7A84-88CF-4D42-16307438DF01}"/>
              </a:ext>
            </a:extLst>
          </p:cNvPr>
          <p:cNvSpPr/>
          <p:nvPr/>
        </p:nvSpPr>
        <p:spPr>
          <a:xfrm flipH="1">
            <a:off x="522709" y="3218549"/>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17549743-B602-05BF-2809-1B5AA5587489}"/>
              </a:ext>
            </a:extLst>
          </p:cNvPr>
          <p:cNvPicPr>
            <a:picLocks noChangeAspect="1"/>
          </p:cNvPicPr>
          <p:nvPr/>
        </p:nvPicPr>
        <p:blipFill>
          <a:blip r:embed="rId3">
            <a:extLst>
              <a:ext uri="{28A0092B-C50C-407E-A947-70E740481C1C}">
                <a14:useLocalDpi xmlns:a14="http://schemas.microsoft.com/office/drawing/2010/main" val="0"/>
              </a:ext>
            </a:extLst>
          </a:blip>
          <a:srcRect l="56076" t="12093" r="6599" b="12404"/>
          <a:stretch>
            <a:fillRect/>
          </a:stretch>
        </p:blipFill>
        <p:spPr>
          <a:xfrm>
            <a:off x="6838785" y="499730"/>
            <a:ext cx="4410462" cy="5118488"/>
          </a:xfrm>
          <a:prstGeom prst="rect">
            <a:avLst/>
          </a:prstGeom>
        </p:spPr>
      </p:pic>
    </p:spTree>
    <p:extLst>
      <p:ext uri="{BB962C8B-B14F-4D97-AF65-F5344CB8AC3E}">
        <p14:creationId xmlns:p14="http://schemas.microsoft.com/office/powerpoint/2010/main" val="2706054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A93C-2EE6-B42A-55D4-EB897861B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DA510-6255-F567-8D47-0F16D72B36AB}"/>
              </a:ext>
            </a:extLst>
          </p:cNvPr>
          <p:cNvSpPr>
            <a:spLocks noGrp="1"/>
          </p:cNvSpPr>
          <p:nvPr>
            <p:ph type="title"/>
          </p:nvPr>
        </p:nvSpPr>
        <p:spPr/>
        <p:txBody>
          <a:bodyPr/>
          <a:lstStyle/>
          <a:p>
            <a:r>
              <a:rPr lang="en-GB" sz="2800" dirty="0"/>
              <a:t>Wrap Up</a:t>
            </a:r>
          </a:p>
        </p:txBody>
      </p:sp>
      <p:sp>
        <p:nvSpPr>
          <p:cNvPr id="5" name="Rectangle: Rounded Corners 4">
            <a:extLst>
              <a:ext uri="{FF2B5EF4-FFF2-40B4-BE49-F238E27FC236}">
                <a16:creationId xmlns:a16="http://schemas.microsoft.com/office/drawing/2014/main" id="{B3601679-2748-2F0E-4160-F9378AD18118}"/>
              </a:ext>
            </a:extLst>
          </p:cNvPr>
          <p:cNvSpPr/>
          <p:nvPr/>
        </p:nvSpPr>
        <p:spPr>
          <a:xfrm>
            <a:off x="532139" y="1329070"/>
            <a:ext cx="11036562" cy="3891516"/>
          </a:xfrm>
          <a:prstGeom prst="roundRect">
            <a:avLst/>
          </a:prstGeom>
          <a:solidFill>
            <a:schemeClr val="bg1"/>
          </a:solidFill>
          <a:ln w="38100">
            <a:solidFill>
              <a:srgbClr val="56BC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3F1A5E28-9EE3-EE50-9355-A4DF3C710F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01025" y="825444"/>
            <a:ext cx="1474277" cy="1474277"/>
          </a:xfrm>
          <a:prstGeom prst="rect">
            <a:avLst/>
          </a:prstGeom>
        </p:spPr>
      </p:pic>
      <p:sp>
        <p:nvSpPr>
          <p:cNvPr id="8" name="Text Placeholder 2">
            <a:extLst>
              <a:ext uri="{FF2B5EF4-FFF2-40B4-BE49-F238E27FC236}">
                <a16:creationId xmlns:a16="http://schemas.microsoft.com/office/drawing/2014/main" id="{B2C63C66-B551-9439-35E2-11E6179063C1}"/>
              </a:ext>
            </a:extLst>
          </p:cNvPr>
          <p:cNvSpPr txBox="1">
            <a:spLocks/>
          </p:cNvSpPr>
          <p:nvPr/>
        </p:nvSpPr>
        <p:spPr>
          <a:xfrm>
            <a:off x="815480" y="6281663"/>
            <a:ext cx="5813425" cy="26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rgbClr val="312F7D"/>
                </a:solidFill>
                <a:latin typeface="Avenir Heavy" panose="02000503020000020003"/>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Heavy" panose="02000503020000020003"/>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panose="02000503020000020003"/>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panose="02000503020000020003"/>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dirty="0"/>
              <a:t>Building an Interactive Real estate Dashboard in Power BI </a:t>
            </a:r>
          </a:p>
        </p:txBody>
      </p:sp>
      <p:sp>
        <p:nvSpPr>
          <p:cNvPr id="29" name="Content Placeholder 2">
            <a:extLst>
              <a:ext uri="{FF2B5EF4-FFF2-40B4-BE49-F238E27FC236}">
                <a16:creationId xmlns:a16="http://schemas.microsoft.com/office/drawing/2014/main" id="{F0F7F5DF-63AA-BA53-44BA-1D9BD1BA476F}"/>
              </a:ext>
            </a:extLst>
          </p:cNvPr>
          <p:cNvSpPr txBox="1">
            <a:spLocks/>
          </p:cNvSpPr>
          <p:nvPr/>
        </p:nvSpPr>
        <p:spPr>
          <a:xfrm>
            <a:off x="1208358" y="1637414"/>
            <a:ext cx="8679922" cy="3157870"/>
          </a:xfrm>
          <a:prstGeom prst="rect">
            <a:avLst/>
          </a:prstGeom>
        </p:spPr>
        <p:txBody>
          <a:bodyPr anchor="t">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ts val="3084"/>
              </a:lnSpc>
              <a:spcBef>
                <a:spcPct val="0"/>
              </a:spcBef>
            </a:pPr>
            <a:r>
              <a:rPr lang="en-US" b="1" dirty="0">
                <a:solidFill>
                  <a:srgbClr val="000000"/>
                </a:solidFill>
                <a:latin typeface="Calibri (MS) Bold"/>
                <a:ea typeface="Calibri (MS) Bold"/>
                <a:cs typeface="Calibri (MS) Bold"/>
                <a:sym typeface="Calibri (MS) Bold"/>
              </a:rPr>
              <a:t>We built…</a:t>
            </a:r>
          </a:p>
          <a:p>
            <a:pPr marL="800100" lvl="1" indent="-342900">
              <a:lnSpc>
                <a:spcPts val="3084"/>
              </a:lnSpc>
              <a:buFont typeface="Arial" panose="020B0604020202020204" pitchFamily="34" charset="0"/>
              <a:buChar char="•"/>
            </a:pPr>
            <a:r>
              <a:rPr lang="en-GB" dirty="0">
                <a:solidFill>
                  <a:srgbClr val="000000"/>
                </a:solidFill>
                <a:latin typeface="Calibri (MS)"/>
                <a:ea typeface="Calibri (MS)"/>
                <a:cs typeface="Calibri (MS)"/>
                <a:sym typeface="Calibri (MS)"/>
              </a:rPr>
              <a:t>A live dashboard with KPIs, slicers, and a Gantt timeline</a:t>
            </a:r>
          </a:p>
          <a:p>
            <a:pPr marL="800100" lvl="1" indent="-342900">
              <a:lnSpc>
                <a:spcPts val="3084"/>
              </a:lnSpc>
              <a:buFont typeface="Arial" panose="020B0604020202020204" pitchFamily="34" charset="0"/>
              <a:buChar char="•"/>
            </a:pPr>
            <a:r>
              <a:rPr lang="en-GB" dirty="0">
                <a:solidFill>
                  <a:srgbClr val="000000"/>
                </a:solidFill>
                <a:latin typeface="Calibri (MS)"/>
                <a:ea typeface="Calibri (MS)"/>
                <a:cs typeface="Calibri (MS)"/>
                <a:sym typeface="Calibri (MS)"/>
              </a:rPr>
              <a:t>DAX measures and data model behind the scenes</a:t>
            </a:r>
          </a:p>
          <a:p>
            <a:pPr marL="800100" lvl="1" indent="-342900">
              <a:lnSpc>
                <a:spcPts val="3084"/>
              </a:lnSpc>
              <a:buFont typeface="Arial" panose="020B0604020202020204" pitchFamily="34" charset="0"/>
              <a:buChar char="•"/>
            </a:pPr>
            <a:r>
              <a:rPr lang="en-GB" dirty="0">
                <a:solidFill>
                  <a:srgbClr val="000000"/>
                </a:solidFill>
                <a:latin typeface="Calibri (MS)"/>
                <a:ea typeface="Calibri (MS)"/>
                <a:cs typeface="Calibri (MS)"/>
                <a:sym typeface="Calibri (MS)"/>
              </a:rPr>
              <a:t>A clear visual view of occupancy and lease activity</a:t>
            </a:r>
          </a:p>
          <a:p>
            <a:pPr lvl="1">
              <a:lnSpc>
                <a:spcPts val="3084"/>
              </a:lnSpc>
            </a:pPr>
            <a:endParaRPr lang="en-GB" dirty="0">
              <a:solidFill>
                <a:srgbClr val="000000"/>
              </a:solidFill>
              <a:latin typeface="Calibri (MS)"/>
              <a:ea typeface="Calibri (MS)"/>
              <a:cs typeface="Calibri (MS)"/>
              <a:sym typeface="Calibri (MS)"/>
            </a:endParaRPr>
          </a:p>
          <a:p>
            <a:pPr>
              <a:lnSpc>
                <a:spcPts val="3084"/>
              </a:lnSpc>
            </a:pPr>
            <a:r>
              <a:rPr lang="en-US" b="1" dirty="0">
                <a:solidFill>
                  <a:srgbClr val="000000"/>
                </a:solidFill>
                <a:latin typeface="Calibri (MS) Bold"/>
                <a:ea typeface="Calibri (MS) Bold"/>
                <a:cs typeface="Calibri (MS) Bold"/>
                <a:sym typeface="Calibri (MS) Bold"/>
              </a:rPr>
              <a:t>Next up...</a:t>
            </a:r>
          </a:p>
          <a:p>
            <a:pPr marL="742950" lvl="1" indent="-285750">
              <a:lnSpc>
                <a:spcPts val="3084"/>
              </a:lnSpc>
              <a:buFont typeface="Arial" panose="020B0604020202020204" pitchFamily="34" charset="0"/>
              <a:buChar char="•"/>
            </a:pPr>
            <a:r>
              <a:rPr lang="en-US" dirty="0">
                <a:solidFill>
                  <a:srgbClr val="000000"/>
                </a:solidFill>
                <a:latin typeface="Calibri (MS)"/>
                <a:ea typeface="Calibri (MS)"/>
                <a:cs typeface="Calibri (MS)"/>
                <a:sym typeface="Calibri (MS)"/>
              </a:rPr>
              <a:t>Explore automation, publishing, and sharing flows</a:t>
            </a:r>
          </a:p>
          <a:p>
            <a:pPr>
              <a:lnSpc>
                <a:spcPts val="3084"/>
              </a:lnSpc>
            </a:pPr>
            <a:endParaRPr lang="en-GB" dirty="0">
              <a:solidFill>
                <a:srgbClr val="000000"/>
              </a:solidFill>
              <a:latin typeface="Calibri (MS)"/>
              <a:ea typeface="Calibri (MS)"/>
              <a:cs typeface="Calibri (MS)"/>
              <a:sym typeface="Calibri (MS)"/>
            </a:endParaRPr>
          </a:p>
          <a:p>
            <a:pPr>
              <a:lnSpc>
                <a:spcPts val="3084"/>
              </a:lnSpc>
              <a:spcBef>
                <a:spcPct val="0"/>
              </a:spcBef>
            </a:pPr>
            <a:endParaRPr lang="en-US" b="1" dirty="0">
              <a:solidFill>
                <a:srgbClr val="000000"/>
              </a:solidFill>
              <a:latin typeface="Calibri (MS) Bold"/>
              <a:ea typeface="Calibri (MS) Bold"/>
              <a:cs typeface="Calibri (MS) Bold"/>
              <a:sym typeface="Calibri (MS) Bold"/>
            </a:endParaRPr>
          </a:p>
        </p:txBody>
      </p:sp>
      <p:sp>
        <p:nvSpPr>
          <p:cNvPr id="30" name="Oval 29">
            <a:extLst>
              <a:ext uri="{FF2B5EF4-FFF2-40B4-BE49-F238E27FC236}">
                <a16:creationId xmlns:a16="http://schemas.microsoft.com/office/drawing/2014/main" id="{ABB0B542-1629-C745-4E0F-BF2D601524AE}"/>
              </a:ext>
            </a:extLst>
          </p:cNvPr>
          <p:cNvSpPr/>
          <p:nvPr/>
        </p:nvSpPr>
        <p:spPr>
          <a:xfrm flipH="1">
            <a:off x="1660393" y="2212390"/>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CD1B6B4E-E353-D955-EA57-4FDCB2AA900A}"/>
              </a:ext>
            </a:extLst>
          </p:cNvPr>
          <p:cNvSpPr/>
          <p:nvPr/>
        </p:nvSpPr>
        <p:spPr>
          <a:xfrm flipH="1">
            <a:off x="1660393" y="2608064"/>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01B8CE57-ADDC-F076-6D84-7E007A1BF345}"/>
              </a:ext>
            </a:extLst>
          </p:cNvPr>
          <p:cNvSpPr/>
          <p:nvPr/>
        </p:nvSpPr>
        <p:spPr>
          <a:xfrm flipH="1">
            <a:off x="1660393" y="3045956"/>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BD7537B0-E47B-586B-0E80-9C04EB42E31F}"/>
              </a:ext>
            </a:extLst>
          </p:cNvPr>
          <p:cNvSpPr/>
          <p:nvPr/>
        </p:nvSpPr>
        <p:spPr>
          <a:xfrm flipH="1">
            <a:off x="1660393" y="4215629"/>
            <a:ext cx="163490" cy="174661"/>
          </a:xfrm>
          <a:prstGeom prst="ellipse">
            <a:avLst/>
          </a:prstGeom>
          <a:solidFill>
            <a:schemeClr val="bg1"/>
          </a:solidFill>
          <a:ln w="57150">
            <a:solidFill>
              <a:srgbClr val="312F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33051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3AACA50-2B09-F488-7721-831FEF907DA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77A0204-D8DC-7FE9-8688-5F6E0D24211E}"/>
              </a:ext>
            </a:extLst>
          </p:cNvPr>
          <p:cNvSpPr txBox="1">
            <a:spLocks/>
          </p:cNvSpPr>
          <p:nvPr/>
        </p:nvSpPr>
        <p:spPr>
          <a:xfrm>
            <a:off x="766281" y="2297311"/>
            <a:ext cx="10515600" cy="41806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rgbClr val="312F7D"/>
                </a:solidFill>
                <a:latin typeface="Avenir Heavy" panose="02000503020000020003"/>
              </a:rPr>
              <a:t>Q&amp;A | Let’s Connect</a:t>
            </a:r>
          </a:p>
        </p:txBody>
      </p:sp>
      <p:pic>
        <p:nvPicPr>
          <p:cNvPr id="10" name="Picture 9">
            <a:extLst>
              <a:ext uri="{FF2B5EF4-FFF2-40B4-BE49-F238E27FC236}">
                <a16:creationId xmlns:a16="http://schemas.microsoft.com/office/drawing/2014/main" id="{4B392896-39EB-40D4-FB3C-2058E734EC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022" y="3307242"/>
            <a:ext cx="418068" cy="418068"/>
          </a:xfrm>
          <a:prstGeom prst="rect">
            <a:avLst/>
          </a:prstGeom>
        </p:spPr>
      </p:pic>
      <p:sp>
        <p:nvSpPr>
          <p:cNvPr id="14" name="TextBox 13">
            <a:extLst>
              <a:ext uri="{FF2B5EF4-FFF2-40B4-BE49-F238E27FC236}">
                <a16:creationId xmlns:a16="http://schemas.microsoft.com/office/drawing/2014/main" id="{C8AEEE4E-7451-32BB-E9C7-C8E7A0C5F199}"/>
              </a:ext>
            </a:extLst>
          </p:cNvPr>
          <p:cNvSpPr txBox="1"/>
          <p:nvPr/>
        </p:nvSpPr>
        <p:spPr>
          <a:xfrm>
            <a:off x="1394634" y="3934356"/>
            <a:ext cx="3988941" cy="400110"/>
          </a:xfrm>
          <a:prstGeom prst="rect">
            <a:avLst/>
          </a:prstGeom>
          <a:noFill/>
        </p:spPr>
        <p:txBody>
          <a:bodyPr wrap="square">
            <a:spAutoFit/>
          </a:bodyPr>
          <a:lstStyle/>
          <a:p>
            <a:r>
              <a:rPr lang="en-US" sz="2000" dirty="0">
                <a:solidFill>
                  <a:srgbClr val="312F7D"/>
                </a:solidFill>
              </a:rPr>
              <a:t>george@stringfestanalytics.com</a:t>
            </a:r>
            <a:endParaRPr lang="en-GB" sz="2000" dirty="0">
              <a:solidFill>
                <a:srgbClr val="312F7D"/>
              </a:solidFill>
            </a:endParaRPr>
          </a:p>
        </p:txBody>
      </p:sp>
      <p:sp>
        <p:nvSpPr>
          <p:cNvPr id="16" name="TextBox 15">
            <a:extLst>
              <a:ext uri="{FF2B5EF4-FFF2-40B4-BE49-F238E27FC236}">
                <a16:creationId xmlns:a16="http://schemas.microsoft.com/office/drawing/2014/main" id="{8DD5EA08-C716-1823-6BB1-D9D03DF7992D}"/>
              </a:ext>
            </a:extLst>
          </p:cNvPr>
          <p:cNvSpPr txBox="1"/>
          <p:nvPr/>
        </p:nvSpPr>
        <p:spPr>
          <a:xfrm>
            <a:off x="1394634" y="3328148"/>
            <a:ext cx="3988941" cy="400110"/>
          </a:xfrm>
          <a:prstGeom prst="rect">
            <a:avLst/>
          </a:prstGeom>
          <a:noFill/>
        </p:spPr>
        <p:txBody>
          <a:bodyPr wrap="square">
            <a:spAutoFit/>
          </a:bodyPr>
          <a:lstStyle/>
          <a:p>
            <a:r>
              <a:rPr lang="en-US" sz="2000" dirty="0">
                <a:solidFill>
                  <a:srgbClr val="312F7D"/>
                </a:solidFill>
              </a:rPr>
              <a:t>linkedin.com/in/</a:t>
            </a:r>
            <a:r>
              <a:rPr lang="en-US" sz="2000" dirty="0" err="1">
                <a:solidFill>
                  <a:srgbClr val="312F7D"/>
                </a:solidFill>
              </a:rPr>
              <a:t>gjmount</a:t>
            </a:r>
            <a:endParaRPr lang="en-GB" sz="2000" dirty="0">
              <a:solidFill>
                <a:srgbClr val="312F7D"/>
              </a:solidFill>
            </a:endParaRPr>
          </a:p>
        </p:txBody>
      </p:sp>
      <p:pic>
        <p:nvPicPr>
          <p:cNvPr id="18" name="Picture 17">
            <a:extLst>
              <a:ext uri="{FF2B5EF4-FFF2-40B4-BE49-F238E27FC236}">
                <a16:creationId xmlns:a16="http://schemas.microsoft.com/office/drawing/2014/main" id="{BB0D0DC8-E481-8687-6811-0C4BF559CD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3894102"/>
            <a:ext cx="470388" cy="470388"/>
          </a:xfrm>
          <a:prstGeom prst="rect">
            <a:avLst/>
          </a:prstGeom>
        </p:spPr>
      </p:pic>
    </p:spTree>
    <p:extLst>
      <p:ext uri="{BB962C8B-B14F-4D97-AF65-F5344CB8AC3E}">
        <p14:creationId xmlns:p14="http://schemas.microsoft.com/office/powerpoint/2010/main" val="49705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7BE12-925A-1A04-7FB2-2941994EF9D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77D9F46-1E89-826D-34EF-CB491A38522B}"/>
              </a:ext>
            </a:extLst>
          </p:cNvPr>
          <p:cNvSpPr txBox="1">
            <a:spLocks/>
          </p:cNvSpPr>
          <p:nvPr/>
        </p:nvSpPr>
        <p:spPr>
          <a:xfrm>
            <a:off x="784753" y="3787629"/>
            <a:ext cx="5681360" cy="854980"/>
          </a:xfrm>
          <a:prstGeom prst="rect">
            <a:avLst/>
          </a:prstGeom>
        </p:spPr>
        <p:txBody>
          <a:bodyPr vert="horz" lIns="150781" tIns="75390" rIns="150781" bIns="75390" rtlCol="0" anchor="ctr">
            <a:noAutofit/>
          </a:bodyPr>
          <a:lstStyle>
            <a:lvl1pPr algn="l" defTabSz="914400" rtl="0" eaLnBrk="1" latinLnBrk="0" hangingPunct="1">
              <a:lnSpc>
                <a:spcPct val="90000"/>
              </a:lnSpc>
              <a:spcBef>
                <a:spcPct val="0"/>
              </a:spcBef>
              <a:buNone/>
              <a:defRPr sz="2800" b="1" i="0" kern="1200">
                <a:solidFill>
                  <a:srgbClr val="39397B"/>
                </a:solidFill>
                <a:latin typeface="Avenir Heavy" panose="02000503020000020003" pitchFamily="2" charset="0"/>
                <a:ea typeface="+mj-ea"/>
                <a:cs typeface="+mj-cs"/>
              </a:defRPr>
            </a:lvl1pPr>
          </a:lstStyle>
          <a:p>
            <a:r>
              <a:rPr lang="en-GB" sz="2400" dirty="0"/>
              <a:t>AI for Real Estate: Practical Tools You Can Use Today</a:t>
            </a:r>
          </a:p>
        </p:txBody>
      </p:sp>
      <p:sp>
        <p:nvSpPr>
          <p:cNvPr id="10" name="Title 1">
            <a:extLst>
              <a:ext uri="{FF2B5EF4-FFF2-40B4-BE49-F238E27FC236}">
                <a16:creationId xmlns:a16="http://schemas.microsoft.com/office/drawing/2014/main" id="{099E4E1D-4C1B-E299-1CD2-E175BFD45C59}"/>
              </a:ext>
            </a:extLst>
          </p:cNvPr>
          <p:cNvSpPr txBox="1">
            <a:spLocks/>
          </p:cNvSpPr>
          <p:nvPr/>
        </p:nvSpPr>
        <p:spPr>
          <a:xfrm>
            <a:off x="784262" y="4361552"/>
            <a:ext cx="5801103" cy="1075655"/>
          </a:xfrm>
          <a:prstGeom prst="rect">
            <a:avLst/>
          </a:prstGeom>
        </p:spPr>
        <p:txBody>
          <a:bodyPr vert="horz" lIns="150781" tIns="75390" rIns="150781" bIns="75390" rtlCol="0" anchor="ctr">
            <a:normAutofit/>
          </a:bodyPr>
          <a:lstStyle>
            <a:lvl1pPr algn="l" defTabSz="914400" rtl="0" eaLnBrk="1" latinLnBrk="0" hangingPunct="1">
              <a:lnSpc>
                <a:spcPct val="90000"/>
              </a:lnSpc>
              <a:spcBef>
                <a:spcPct val="0"/>
              </a:spcBef>
              <a:buNone/>
              <a:defRPr sz="2800" b="1" i="0" kern="1200">
                <a:solidFill>
                  <a:srgbClr val="39397B"/>
                </a:solidFill>
                <a:latin typeface="Avenir Heavy" panose="02000503020000020003" pitchFamily="2" charset="0"/>
                <a:ea typeface="+mj-ea"/>
                <a:cs typeface="+mj-cs"/>
              </a:defRPr>
            </a:lvl1pPr>
          </a:lstStyle>
          <a:p>
            <a:r>
              <a:rPr lang="en-US" sz="2400" dirty="0">
                <a:solidFill>
                  <a:srgbClr val="56BCB2"/>
                </a:solidFill>
              </a:rPr>
              <a:t>29</a:t>
            </a:r>
            <a:r>
              <a:rPr lang="en-US" sz="2400" baseline="30000" dirty="0">
                <a:solidFill>
                  <a:srgbClr val="56BCB2"/>
                </a:solidFill>
              </a:rPr>
              <a:t>th</a:t>
            </a:r>
            <a:r>
              <a:rPr lang="en-US" sz="2400" dirty="0">
                <a:solidFill>
                  <a:srgbClr val="56BCB2"/>
                </a:solidFill>
              </a:rPr>
              <a:t> April 2026| 13:00pm BST</a:t>
            </a:r>
          </a:p>
        </p:txBody>
      </p:sp>
      <p:pic>
        <p:nvPicPr>
          <p:cNvPr id="12" name="Picture 11" descr="A green arrow on a black background&#10;&#10;AI-generated content may be incorrect.">
            <a:extLst>
              <a:ext uri="{FF2B5EF4-FFF2-40B4-BE49-F238E27FC236}">
                <a16:creationId xmlns:a16="http://schemas.microsoft.com/office/drawing/2014/main" id="{5832F6C9-2FAC-F156-3CD4-A4C95B339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590" y="3787629"/>
            <a:ext cx="573923" cy="573923"/>
          </a:xfrm>
          <a:prstGeom prst="rect">
            <a:avLst/>
          </a:prstGeom>
        </p:spPr>
      </p:pic>
    </p:spTree>
    <p:extLst>
      <p:ext uri="{BB962C8B-B14F-4D97-AF65-F5344CB8AC3E}">
        <p14:creationId xmlns:p14="http://schemas.microsoft.com/office/powerpoint/2010/main" val="2048287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Template" id="{A9B757A7-6F12-4B26-9F8B-9858E7E3A65A}" vid="{25561693-EAA2-4D4E-A050-D5230EF2B4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8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ED7577-1D69-42EA-A407-A0E7B629FB60}">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9E78336353454B880B9B781BB62B11" ma:contentTypeVersion="18" ma:contentTypeDescription="Create a new document." ma:contentTypeScope="" ma:versionID="d8bc6bfbde8a701b709479e81e872c83">
  <xsd:schema xmlns:xsd="http://www.w3.org/2001/XMLSchema" xmlns:xs="http://www.w3.org/2001/XMLSchema" xmlns:p="http://schemas.microsoft.com/office/2006/metadata/properties" xmlns:ns2="8561a720-9112-47aa-b727-d34998f77320" xmlns:ns3="efe29e46-f8a9-44be-829b-2da1be241cf8" targetNamespace="http://schemas.microsoft.com/office/2006/metadata/properties" ma:root="true" ma:fieldsID="9ad9052bbea937c457d65dbee2abfd64" ns2:_="" ns3:_="">
    <xsd:import namespace="8561a720-9112-47aa-b727-d34998f77320"/>
    <xsd:import namespace="efe29e46-f8a9-44be-829b-2da1be241cf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61a720-9112-47aa-b727-d34998f773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3fbc618-44ed-4bfd-b7be-ffa80e1dbe9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e29e46-f8a9-44be-829b-2da1be241cf8"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b1bd0eb-d521-4625-9a5a-e45f5df3d7cf}" ma:internalName="TaxCatchAll" ma:showField="CatchAllData" ma:web="efe29e46-f8a9-44be-829b-2da1be241c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561a720-9112-47aa-b727-d34998f77320">
      <Terms xmlns="http://schemas.microsoft.com/office/infopath/2007/PartnerControls"/>
    </lcf76f155ced4ddcb4097134ff3c332f>
    <TaxCatchAll xmlns="efe29e46-f8a9-44be-829b-2da1be241cf8" xsi:nil="true"/>
  </documentManagement>
</p:properties>
</file>

<file path=customXml/itemProps1.xml><?xml version="1.0" encoding="utf-8"?>
<ds:datastoreItem xmlns:ds="http://schemas.openxmlformats.org/officeDocument/2006/customXml" ds:itemID="{E57E9959-5CFA-4D4E-BC99-5BA778F8CEA0}">
  <ds:schemaRefs>
    <ds:schemaRef ds:uri="http://schemas.microsoft.com/sharepoint/v3/contenttype/forms"/>
  </ds:schemaRefs>
</ds:datastoreItem>
</file>

<file path=customXml/itemProps2.xml><?xml version="1.0" encoding="utf-8"?>
<ds:datastoreItem xmlns:ds="http://schemas.openxmlformats.org/officeDocument/2006/customXml" ds:itemID="{FBB70C6E-34FB-4587-95A3-4A3F087FAA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61a720-9112-47aa-b727-d34998f77320"/>
    <ds:schemaRef ds:uri="efe29e46-f8a9-44be-829b-2da1be241c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B0F994-5C91-45B5-9824-71BFC87E83D5}">
  <ds:schemaRefs>
    <ds:schemaRef ds:uri="8561a720-9112-47aa-b727-d34998f77320"/>
    <ds:schemaRef ds:uri="efe29e46-f8a9-44be-829b-2da1be241cf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Webinar Template</Template>
  <TotalTime>424</TotalTime>
  <Words>693</Words>
  <Application>Microsoft Office PowerPoint</Application>
  <PresentationFormat>Widescreen</PresentationFormat>
  <Paragraphs>92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Heavy</vt:lpstr>
      <vt:lpstr>Calibri</vt:lpstr>
      <vt:lpstr>Calibri (MS)</vt:lpstr>
      <vt:lpstr>Calibri (MS) Bold</vt:lpstr>
      <vt:lpstr>Office Theme</vt:lpstr>
      <vt:lpstr>PowerPoint Presentation</vt:lpstr>
      <vt:lpstr>About Me</vt:lpstr>
      <vt:lpstr>Webinar 1 &amp; 2 Recap</vt:lpstr>
      <vt:lpstr>Agenda</vt:lpstr>
      <vt:lpstr>Dashboard Planning</vt:lpstr>
      <vt:lpstr>Building Visual KPIs</vt:lpstr>
      <vt:lpstr>Interactive Slicers</vt:lpstr>
      <vt:lpstr>Gantt Chart for Lease Timelines</vt:lpstr>
      <vt:lpstr>Wrap Up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 Wilson</dc:creator>
  <cp:lastModifiedBy>George Mount</cp:lastModifiedBy>
  <cp:revision>89</cp:revision>
  <dcterms:created xsi:type="dcterms:W3CDTF">2023-02-09T10:25:14Z</dcterms:created>
  <dcterms:modified xsi:type="dcterms:W3CDTF">2026-04-02T16:22:12Z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0x010100B29E78336353454B880B9B781BB62B11</vt:lpwstr>
  </property>
  <property fmtid="{D5CDD505-2E9C-101B-9397-08002B2CF9AE}" pid="3" name="MediaServiceImageTags">
    <vt:lpwstr/>
  </property>
</Properties>
</file>